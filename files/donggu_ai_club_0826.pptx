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13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6237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caba1cdadf90ccad6baa8dedc3dd1cb.png"/>
          <p:cNvPicPr>
            <a:picLocks noChangeAspect="1"/>
          </p:cNvPicPr>
          <p:nvPr/>
        </p:nvPicPr>
        <p:blipFill>
          <a:blip r:embed="rId3"/>
          <a:srcRect t="-57" b="-57"/>
          <a:stretch/>
        </p:blipFill>
        <p:spPr>
          <a:xfrm>
            <a:off x="0" y="0"/>
            <a:ext cx="18288000" cy="133502"/>
          </a:xfrm>
          <a:prstGeom prst="rect">
            <a:avLst/>
          </a:prstGeom>
        </p:spPr>
      </p:pic>
      <p:pic>
        <p:nvPicPr>
          <p:cNvPr id="3" name="Image 1" descr="gen-dedup-1ecfda80e8e312169f1df99647ba842f.png"/>
          <p:cNvPicPr>
            <a:picLocks noChangeAspect="1"/>
          </p:cNvPicPr>
          <p:nvPr/>
        </p:nvPicPr>
        <p:blipFill>
          <a:blip r:embed="rId4"/>
          <a:srcRect l="-58" r="-58"/>
          <a:stretch/>
        </p:blipFill>
        <p:spPr>
          <a:xfrm>
            <a:off x="0" y="133502"/>
            <a:ext cx="133502" cy="1015349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4192402" y="761695"/>
            <a:ext cx="2952598" cy="1123798"/>
          </a:xfrm>
          <a:prstGeom prst="rect">
            <a:avLst/>
          </a:prstGeom>
          <a:solidFill>
            <a:srgbClr val="1B1B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B1B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143000" y="875995"/>
            <a:ext cx="9525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b="1" kern="0" spc="285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동구청 AI동아리 특강 · CASE 2026-01</a:t>
            </a:r>
            <a:endParaRPr lang="en-US" sz="1425" dirty="0"/>
          </a:p>
        </p:txBody>
      </p:sp>
      <p:sp>
        <p:nvSpPr>
          <p:cNvPr id="7" name="Text 3"/>
          <p:cNvSpPr txBox="1"/>
          <p:nvPr/>
        </p:nvSpPr>
        <p:spPr>
          <a:xfrm>
            <a:off x="14401800" y="933602"/>
            <a:ext cx="25722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215" dirty="0">
                <a:solidFill>
                  <a:srgbClr val="F4F4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오늘의 시계</a:t>
            </a:r>
            <a:endParaRPr lang="en-US" sz="975" dirty="0"/>
          </a:p>
        </p:txBody>
      </p:sp>
      <p:sp>
        <p:nvSpPr>
          <p:cNvPr id="8" name="Text 4"/>
          <p:cNvSpPr txBox="1"/>
          <p:nvPr/>
        </p:nvSpPr>
        <p:spPr>
          <a:xfrm>
            <a:off x="14401800" y="1162202"/>
            <a:ext cx="2572207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60분</a:t>
            </a:r>
            <a:endParaRPr lang="en-US" sz="3300" dirty="0"/>
          </a:p>
        </p:txBody>
      </p:sp>
      <p:sp>
        <p:nvSpPr>
          <p:cNvPr id="9" name="Text 5"/>
          <p:cNvSpPr txBox="1"/>
          <p:nvPr/>
        </p:nvSpPr>
        <p:spPr>
          <a:xfrm>
            <a:off x="14401800" y="1638605"/>
            <a:ext cx="25722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F4F4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실전특강 · 사례 38건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2819095"/>
            <a:ext cx="123828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kern="0" spc="357" dirty="0">
                <a:solidFill>
                  <a:srgbClr val="1B1B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보건소 공무원이 실제 업무에서 검증한 AI 활용법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3295498"/>
            <a:ext cx="1672437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0" b="1" kern="0" spc="-394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코딩 모르는 공무원이</a:t>
            </a:r>
            <a:endParaRPr lang="en-US" sz="1125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4762195"/>
            <a:ext cx="1619311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0" b="1" kern="0" spc="-394" dirty="0">
                <a:solidFill>
                  <a:srgbClr val="A41E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만든 결과물.</a:t>
            </a:r>
            <a:endParaRPr lang="en-US" sz="11250" dirty="0"/>
          </a:p>
        </p:txBody>
      </p:sp>
      <p:sp>
        <p:nvSpPr>
          <p:cNvPr id="13" name="Text 9"/>
          <p:cNvSpPr txBox="1"/>
          <p:nvPr/>
        </p:nvSpPr>
        <p:spPr>
          <a:xfrm>
            <a:off x="1143000" y="6915607"/>
            <a:ext cx="14859000" cy="1018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34"/>
              </a:lnSpc>
              <a:buNone/>
            </a:pPr>
            <a:r>
              <a:rPr lang="en-US" sz="2700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6개월 동안 38건 </a:t>
            </a:r>
            <a:r>
              <a:rPr lang="ko-KR" altLang="en-US" sz="2700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이상</a:t>
            </a:r>
            <a:r>
              <a:rPr lang="en-US" sz="2700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. 웹시스템 14개는 오늘도 돌아가고 있습니다.</a:t>
            </a:r>
            <a:endParaRPr lang="en-US" sz="2700" dirty="0"/>
          </a:p>
          <a:p>
            <a:pPr marL="0" indent="0" algn="l">
              <a:lnSpc>
                <a:spcPts val="3834"/>
              </a:lnSpc>
              <a:buNone/>
            </a:pPr>
            <a:r>
              <a:rPr lang="en-US" sz="2700" b="1" dirty="0">
                <a:solidFill>
                  <a:srgbClr val="A41E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질문은 하나입니다 — 그럼 여러분은 무엇부터 넘기시겠습니까?</a:t>
            </a:r>
            <a:endParaRPr lang="en-US" sz="27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9924898"/>
            <a:ext cx="11430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176" dirty="0">
                <a:solidFill>
                  <a:srgbClr val="F4F4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강사 박경희 · 동구보건소 건강관리과 주무관 · 방사선사 10년 + 보건소 10년</a:t>
            </a:r>
            <a:endParaRPr lang="en-US" sz="975" dirty="0"/>
          </a:p>
        </p:txBody>
      </p:sp>
      <p:sp>
        <p:nvSpPr>
          <p:cNvPr id="15" name="Text 11"/>
          <p:cNvSpPr txBox="1"/>
          <p:nvPr/>
        </p:nvSpPr>
        <p:spPr>
          <a:xfrm>
            <a:off x="14477695" y="9924898"/>
            <a:ext cx="2667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kern="0" spc="176" dirty="0">
                <a:solidFill>
                  <a:srgbClr val="F4F4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10 · COVER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08783e6387252b8d8bc4de14f11b11b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430500" y="323698"/>
            <a:ext cx="2095805" cy="552298"/>
          </a:xfrm>
          <a:prstGeom prst="rect">
            <a:avLst/>
          </a:prstGeom>
          <a:solidFill>
            <a:srgbClr val="1B1B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0f012e44748ada341081948e65228a88.png"/>
          <p:cNvPicPr>
            <a:picLocks noChangeAspect="1"/>
          </p:cNvPicPr>
          <p:nvPr/>
        </p:nvPicPr>
        <p:blipFill>
          <a:blip r:embed="rId4"/>
          <a:srcRect t="-401" b="-401"/>
          <a:stretch/>
        </p:blipFill>
        <p:spPr>
          <a:xfrm>
            <a:off x="761695" y="1200607"/>
            <a:ext cx="16763695" cy="57607"/>
          </a:xfrm>
          <a:prstGeom prst="rect">
            <a:avLst/>
          </a:prstGeom>
        </p:spPr>
      </p:pic>
      <p:pic>
        <p:nvPicPr>
          <p:cNvPr id="5" name="Image 2" descr="gen-dedup-e66a6719573809719a6318c4bd73b786.png"/>
          <p:cNvPicPr>
            <a:picLocks noChangeAspect="1"/>
          </p:cNvPicPr>
          <p:nvPr/>
        </p:nvPicPr>
        <p:blipFill>
          <a:blip r:embed="rId5"/>
          <a:srcRect t="-204" b="-204"/>
          <a:stretch/>
        </p:blipFill>
        <p:spPr>
          <a:xfrm>
            <a:off x="761695" y="3771900"/>
            <a:ext cx="75895" cy="2762402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761695" y="6915607"/>
            <a:ext cx="16782898" cy="2266798"/>
          </a:xfrm>
          <a:prstGeom prst="rect">
            <a:avLst/>
          </a:prstGeom>
          <a:solidFill>
            <a:srgbClr val="FFFFFF"/>
          </a:solidFill>
          <a:ln w="12700">
            <a:solidFill>
              <a:srgbClr val="1B1B1B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0" y="10001707"/>
            <a:ext cx="18288000" cy="286207"/>
          </a:xfrm>
          <a:prstGeom prst="rect">
            <a:avLst/>
          </a:prstGeom>
          <a:solidFill>
            <a:srgbClr val="1B1B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3" descr="gen-dedup-c4b304d2648dedf75e52a1cccb98ece3.png"/>
          <p:cNvPicPr>
            <a:picLocks noChangeAspect="1"/>
          </p:cNvPicPr>
          <p:nvPr/>
        </p:nvPicPr>
        <p:blipFill>
          <a:blip r:embed="rId6"/>
          <a:srcRect t="-2083" b="-2083"/>
          <a:stretch/>
        </p:blipFill>
        <p:spPr>
          <a:xfrm>
            <a:off x="5048402" y="7125005"/>
            <a:ext cx="9144" cy="1828800"/>
          </a:xfrm>
          <a:prstGeom prst="rect">
            <a:avLst/>
          </a:prstGeom>
        </p:spPr>
      </p:pic>
      <p:pic>
        <p:nvPicPr>
          <p:cNvPr id="9" name="Image 4" descr="gen-dedup-c4b304d2648dedf75e52a1cccb98ece3.png"/>
          <p:cNvPicPr>
            <a:picLocks noChangeAspect="1"/>
          </p:cNvPicPr>
          <p:nvPr/>
        </p:nvPicPr>
        <p:blipFill>
          <a:blip r:embed="rId6"/>
          <a:srcRect t="-2083" b="-2083"/>
          <a:stretch/>
        </p:blipFill>
        <p:spPr>
          <a:xfrm>
            <a:off x="9334195" y="7125005"/>
            <a:ext cx="9144" cy="1828800"/>
          </a:xfrm>
          <a:prstGeom prst="rect">
            <a:avLst/>
          </a:prstGeom>
        </p:spPr>
      </p:pic>
      <p:pic>
        <p:nvPicPr>
          <p:cNvPr id="10" name="Image 5" descr="gen-dedup-c4b304d2648dedf75e52a1cccb98ece3.png"/>
          <p:cNvPicPr>
            <a:picLocks noChangeAspect="1"/>
          </p:cNvPicPr>
          <p:nvPr/>
        </p:nvPicPr>
        <p:blipFill>
          <a:blip r:embed="rId6"/>
          <a:srcRect t="-2083" b="-2083"/>
          <a:stretch/>
        </p:blipFill>
        <p:spPr>
          <a:xfrm>
            <a:off x="13620902" y="7125005"/>
            <a:ext cx="9144" cy="1828800"/>
          </a:xfrm>
          <a:prstGeom prst="rect">
            <a:avLst/>
          </a:prstGeom>
        </p:spPr>
      </p:pic>
      <p:sp>
        <p:nvSpPr>
          <p:cNvPr id="11" name="Text 3"/>
          <p:cNvSpPr txBox="1"/>
          <p:nvPr/>
        </p:nvSpPr>
        <p:spPr>
          <a:xfrm>
            <a:off x="761695" y="400507"/>
            <a:ext cx="8572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52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SLIDE 02 · 주인공 × 의사결정</a:t>
            </a:r>
            <a:endParaRPr lang="en-US" sz="1050" dirty="0"/>
          </a:p>
        </p:txBody>
      </p:sp>
      <p:sp>
        <p:nvSpPr>
          <p:cNvPr id="12" name="Text 4"/>
          <p:cNvSpPr txBox="1"/>
          <p:nvPr/>
        </p:nvSpPr>
        <p:spPr>
          <a:xfrm>
            <a:off x="15602407" y="418795"/>
            <a:ext cx="18105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kern="0" spc="165" dirty="0">
                <a:solidFill>
                  <a:srgbClr val="F4F4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시계</a:t>
            </a:r>
            <a:endParaRPr lang="en-US" sz="825" dirty="0"/>
          </a:p>
        </p:txBody>
      </p:sp>
      <p:sp>
        <p:nvSpPr>
          <p:cNvPr id="13" name="Text 5"/>
          <p:cNvSpPr txBox="1"/>
          <p:nvPr/>
        </p:nvSpPr>
        <p:spPr>
          <a:xfrm>
            <a:off x="15602407" y="571500"/>
            <a:ext cx="1810512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오늘 60분</a:t>
            </a:r>
            <a:endParaRPr lang="en-US" sz="1650" dirty="0"/>
          </a:p>
        </p:txBody>
      </p:sp>
      <p:sp>
        <p:nvSpPr>
          <p:cNvPr id="14" name="Text 6"/>
          <p:cNvSpPr txBox="1"/>
          <p:nvPr/>
        </p:nvSpPr>
        <p:spPr>
          <a:xfrm>
            <a:off x="761695" y="1466698"/>
            <a:ext cx="8572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247" dirty="0">
                <a:solidFill>
                  <a:srgbClr val="1B1B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주인공</a:t>
            </a:r>
            <a:endParaRPr lang="en-US" sz="1125" dirty="0"/>
          </a:p>
        </p:txBody>
      </p:sp>
      <p:sp>
        <p:nvSpPr>
          <p:cNvPr id="15" name="Text 7"/>
          <p:cNvSpPr txBox="1"/>
          <p:nvPr/>
        </p:nvSpPr>
        <p:spPr>
          <a:xfrm>
            <a:off x="761695" y="1752905"/>
            <a:ext cx="14287500" cy="991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800" b="1" kern="0" spc="-234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박경희 주무관,</a:t>
            </a:r>
            <a:endParaRPr lang="en-US" sz="7800" dirty="0"/>
          </a:p>
        </p:txBody>
      </p:sp>
      <p:sp>
        <p:nvSpPr>
          <p:cNvPr id="16" name="Text 8"/>
          <p:cNvSpPr txBox="1"/>
          <p:nvPr/>
        </p:nvSpPr>
        <p:spPr>
          <a:xfrm>
            <a:off x="761695" y="2857500"/>
            <a:ext cx="1619311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dirty="0">
                <a:solidFill>
                  <a:srgbClr val="A41E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동구보건소 건강관리과 · 코딩·디자인 배운 적 없음 · AI 사용 6개월차.</a:t>
            </a:r>
            <a:endParaRPr lang="en-US" sz="3150" dirty="0"/>
          </a:p>
        </p:txBody>
      </p:sp>
      <p:sp>
        <p:nvSpPr>
          <p:cNvPr id="17" name="Text 9"/>
          <p:cNvSpPr txBox="1"/>
          <p:nvPr/>
        </p:nvSpPr>
        <p:spPr>
          <a:xfrm>
            <a:off x="1162202" y="3847795"/>
            <a:ext cx="8572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247" dirty="0">
                <a:solidFill>
                  <a:srgbClr val="1B1B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오늘 결정할 것 — 제가 아니라 여러분이</a:t>
            </a:r>
            <a:endParaRPr lang="en-US" sz="1125" dirty="0"/>
          </a:p>
        </p:txBody>
      </p:sp>
      <p:sp>
        <p:nvSpPr>
          <p:cNvPr id="18" name="Text 10"/>
          <p:cNvSpPr txBox="1"/>
          <p:nvPr/>
        </p:nvSpPr>
        <p:spPr>
          <a:xfrm>
            <a:off x="1162202" y="4209898"/>
            <a:ext cx="1619311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3450" kern="0" spc="-34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지금 손으로 하고 있는 반복업무 </a:t>
            </a:r>
            <a:r>
              <a:rPr lang="en-US" sz="3450" b="1" kern="0" spc="-34" dirty="0">
                <a:solidFill>
                  <a:srgbClr val="A41E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딱 하나</a:t>
            </a:r>
            <a:r>
              <a:rPr lang="en-US" sz="3450" kern="0" spc="-34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를 고르고,</a:t>
            </a:r>
            <a:endParaRPr lang="en-US" sz="34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3450" kern="0" spc="-34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오늘 안에 그걸 AI에게 넘길지 말지 정하는 것.</a:t>
            </a:r>
            <a:endParaRPr lang="en-US" sz="34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550" kern="0" spc="-34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배울지 말지가 아니라, </a:t>
            </a:r>
            <a:r>
              <a:rPr lang="en-US" sz="2550" b="1" kern="0" spc="-34" dirty="0">
                <a:solidFill>
                  <a:srgbClr val="A41E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무엇을 넘길지</a:t>
            </a:r>
            <a:r>
              <a:rPr lang="en-US" sz="2550" kern="0" spc="-34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 결정입니다.</a:t>
            </a:r>
            <a:endParaRPr lang="en-US" sz="3450" dirty="0"/>
          </a:p>
        </p:txBody>
      </p:sp>
      <p:sp>
        <p:nvSpPr>
          <p:cNvPr id="19" name="Text 11"/>
          <p:cNvSpPr txBox="1"/>
          <p:nvPr/>
        </p:nvSpPr>
        <p:spPr>
          <a:xfrm>
            <a:off x="1067105" y="7144207"/>
            <a:ext cx="3810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누가</a:t>
            </a:r>
            <a:endParaRPr lang="en-US" sz="900" dirty="0"/>
          </a:p>
        </p:txBody>
      </p:sp>
      <p:sp>
        <p:nvSpPr>
          <p:cNvPr id="20" name="Text 12"/>
          <p:cNvSpPr txBox="1"/>
          <p:nvPr/>
        </p:nvSpPr>
        <p:spPr>
          <a:xfrm>
            <a:off x="1067105" y="7410298"/>
            <a:ext cx="3620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현직 보건소 공무원</a:t>
            </a:r>
            <a:endParaRPr lang="en-US" sz="2250" dirty="0"/>
          </a:p>
        </p:txBody>
      </p:sp>
      <p:sp>
        <p:nvSpPr>
          <p:cNvPr id="21" name="Text 13"/>
          <p:cNvSpPr txBox="1"/>
          <p:nvPr/>
        </p:nvSpPr>
        <p:spPr>
          <a:xfrm>
            <a:off x="1067105" y="8182966"/>
            <a:ext cx="3620110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8"/>
              </a:lnSpc>
              <a:buNone/>
            </a:pPr>
            <a:r>
              <a:rPr lang="en-US" sz="1425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의료기관 10년 · 보건소 10년.</a:t>
            </a:r>
            <a:endParaRPr lang="en-US" sz="1425" dirty="0"/>
          </a:p>
          <a:p>
            <a:pPr marL="0" indent="0" algn="l">
              <a:lnSpc>
                <a:spcPts val="2138"/>
              </a:lnSpc>
              <a:buNone/>
            </a:pPr>
            <a:r>
              <a:rPr lang="en-US" sz="1425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여러분과 똑같은 조건입니다.</a:t>
            </a:r>
            <a:endParaRPr lang="en-US" sz="1425" dirty="0"/>
          </a:p>
        </p:txBody>
      </p:sp>
      <p:sp>
        <p:nvSpPr>
          <p:cNvPr id="22" name="Text 14"/>
          <p:cNvSpPr txBox="1"/>
          <p:nvPr/>
        </p:nvSpPr>
        <p:spPr>
          <a:xfrm>
            <a:off x="5352898" y="7144207"/>
            <a:ext cx="3810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무엇을</a:t>
            </a:r>
            <a:endParaRPr lang="en-US" sz="900" dirty="0"/>
          </a:p>
        </p:txBody>
      </p:sp>
      <p:sp>
        <p:nvSpPr>
          <p:cNvPr id="23" name="Text 15"/>
          <p:cNvSpPr txBox="1"/>
          <p:nvPr/>
        </p:nvSpPr>
        <p:spPr>
          <a:xfrm>
            <a:off x="5352898" y="7410298"/>
            <a:ext cx="3620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고르기 · 말하기 · 고치기</a:t>
            </a:r>
            <a:endParaRPr lang="en-US" sz="2250" dirty="0"/>
          </a:p>
        </p:txBody>
      </p:sp>
      <p:sp>
        <p:nvSpPr>
          <p:cNvPr id="24" name="Text 16"/>
          <p:cNvSpPr txBox="1"/>
          <p:nvPr/>
        </p:nvSpPr>
        <p:spPr>
          <a:xfrm>
            <a:off x="5352898" y="8182966"/>
            <a:ext cx="3620110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8"/>
              </a:lnSpc>
              <a:buNone/>
            </a:pPr>
            <a:r>
              <a:rPr lang="en-US" sz="1425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동작이 전부입니다.</a:t>
            </a:r>
            <a:endParaRPr lang="en-US" sz="1425" dirty="0"/>
          </a:p>
          <a:p>
            <a:pPr marL="0" indent="0" algn="l">
              <a:lnSpc>
                <a:spcPts val="2138"/>
              </a:lnSpc>
              <a:buNone/>
            </a:pPr>
            <a:r>
              <a:rPr lang="en-US" sz="1425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 번째 단계는 없습니다.</a:t>
            </a:r>
            <a:endParaRPr lang="en-US" sz="1425" dirty="0"/>
          </a:p>
        </p:txBody>
      </p:sp>
      <p:sp>
        <p:nvSpPr>
          <p:cNvPr id="25" name="Text 17"/>
          <p:cNvSpPr txBox="1"/>
          <p:nvPr/>
        </p:nvSpPr>
        <p:spPr>
          <a:xfrm>
            <a:off x="9639605" y="7144207"/>
            <a:ext cx="3810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걸린 것</a:t>
            </a:r>
            <a:endParaRPr lang="en-US" sz="900" dirty="0"/>
          </a:p>
        </p:txBody>
      </p:sp>
      <p:sp>
        <p:nvSpPr>
          <p:cNvPr id="26" name="Text 18"/>
          <p:cNvSpPr txBox="1"/>
          <p:nvPr/>
        </p:nvSpPr>
        <p:spPr>
          <a:xfrm>
            <a:off x="9639605" y="7410298"/>
            <a:ext cx="371520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6개월 · 결과물 38건</a:t>
            </a:r>
            <a:endParaRPr lang="en-US" sz="2250" dirty="0"/>
          </a:p>
        </p:txBody>
      </p:sp>
      <p:sp>
        <p:nvSpPr>
          <p:cNvPr id="27" name="Text 19"/>
          <p:cNvSpPr txBox="1"/>
          <p:nvPr/>
        </p:nvSpPr>
        <p:spPr>
          <a:xfrm>
            <a:off x="9639605" y="8182966"/>
            <a:ext cx="3715207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8"/>
              </a:lnSpc>
              <a:buNone/>
            </a:pPr>
            <a:r>
              <a:rPr lang="en-US" sz="1425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웹시스템 14개 운영 중,</a:t>
            </a:r>
            <a:endParaRPr lang="en-US" sz="1425" dirty="0"/>
          </a:p>
          <a:p>
            <a:pPr marL="0" indent="0" algn="l">
              <a:lnSpc>
                <a:spcPts val="2138"/>
              </a:lnSpc>
              <a:buNone/>
            </a:pPr>
            <a:r>
              <a:rPr lang="en-US" sz="1425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언론보도 10건까지 이어짐.</a:t>
            </a:r>
            <a:endParaRPr lang="en-US" sz="1425" dirty="0"/>
          </a:p>
        </p:txBody>
      </p:sp>
      <p:sp>
        <p:nvSpPr>
          <p:cNvPr id="28" name="Text 20"/>
          <p:cNvSpPr txBox="1"/>
          <p:nvPr/>
        </p:nvSpPr>
        <p:spPr>
          <a:xfrm>
            <a:off x="13925398" y="7144207"/>
            <a:ext cx="3620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기한</a:t>
            </a:r>
            <a:endParaRPr lang="en-US" sz="900" dirty="0"/>
          </a:p>
        </p:txBody>
      </p:sp>
      <p:sp>
        <p:nvSpPr>
          <p:cNvPr id="29" name="Text 21"/>
          <p:cNvSpPr txBox="1"/>
          <p:nvPr/>
        </p:nvSpPr>
        <p:spPr>
          <a:xfrm>
            <a:off x="13925398" y="7410298"/>
            <a:ext cx="35250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 err="1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오늘</a:t>
            </a:r>
            <a:r>
              <a:rPr lang="en-US" sz="225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</a:t>
            </a:r>
            <a:r>
              <a:rPr lang="en-US" sz="2250" b="1" dirty="0" err="1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실습</a:t>
            </a:r>
            <a:endParaRPr lang="en-US" sz="2250" dirty="0"/>
          </a:p>
        </p:txBody>
      </p:sp>
      <p:sp>
        <p:nvSpPr>
          <p:cNvPr id="30" name="Text 22"/>
          <p:cNvSpPr txBox="1"/>
          <p:nvPr/>
        </p:nvSpPr>
        <p:spPr>
          <a:xfrm>
            <a:off x="13925398" y="8182966"/>
            <a:ext cx="3525012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8"/>
              </a:lnSpc>
              <a:buNone/>
            </a:pPr>
            <a:r>
              <a:rPr lang="en-US" sz="1425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강의가 끝나기 전에</a:t>
            </a:r>
            <a:endParaRPr lang="en-US" sz="1425" dirty="0"/>
          </a:p>
          <a:p>
            <a:pPr marL="0" indent="0" algn="l">
              <a:lnSpc>
                <a:spcPts val="2138"/>
              </a:lnSpc>
              <a:buNone/>
            </a:pPr>
            <a:r>
              <a:rPr lang="en-US" sz="1425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초안 하나를 손에 쥡니다.</a:t>
            </a:r>
            <a:endParaRPr lang="en-US" sz="1425" dirty="0"/>
          </a:p>
        </p:txBody>
      </p:sp>
      <p:sp>
        <p:nvSpPr>
          <p:cNvPr id="31" name="Text 23"/>
          <p:cNvSpPr txBox="1"/>
          <p:nvPr/>
        </p:nvSpPr>
        <p:spPr>
          <a:xfrm>
            <a:off x="761695" y="9391802"/>
            <a:ext cx="167646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이후 모든 슬라이드는 이 결정을 돕거나 막기 위해 존재합니다.</a:t>
            </a:r>
            <a:endParaRPr lang="en-US" sz="1725" dirty="0"/>
          </a:p>
        </p:txBody>
      </p:sp>
      <p:sp>
        <p:nvSpPr>
          <p:cNvPr id="32" name="Text 24"/>
          <p:cNvSpPr txBox="1"/>
          <p:nvPr/>
        </p:nvSpPr>
        <p:spPr>
          <a:xfrm>
            <a:off x="761695" y="10067544"/>
            <a:ext cx="12382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F4F4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근거: 원본 특강자료 p.2 강사 소개 · p.23 실습 미션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15620695" y="10067544"/>
            <a:ext cx="190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kern="0" spc="180" dirty="0">
                <a:solidFill>
                  <a:srgbClr val="F4F4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08783e6387252b8d8bc4de14f11b11b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1695" y="2762402"/>
            <a:ext cx="8268005" cy="64766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761695" y="2762402"/>
            <a:ext cx="75895" cy="6476695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334195" y="2762402"/>
            <a:ext cx="8191195" cy="6476695"/>
          </a:xfrm>
          <a:prstGeom prst="rect">
            <a:avLst/>
          </a:prstGeom>
          <a:solidFill>
            <a:srgbClr val="1B1B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10001707"/>
            <a:ext cx="18288000" cy="286207"/>
          </a:xfrm>
          <a:prstGeom prst="rect">
            <a:avLst/>
          </a:prstGeom>
          <a:solidFill>
            <a:srgbClr val="1B1B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gen-dedup-42ce02e4029f4c0e6541d510b22119bb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23798" y="8058607"/>
            <a:ext cx="7334402" cy="9144"/>
          </a:xfrm>
          <a:prstGeom prst="rect">
            <a:avLst/>
          </a:prstGeom>
        </p:spPr>
      </p:pic>
      <p:pic>
        <p:nvPicPr>
          <p:cNvPr id="8" name="Image 2" descr="gen-dedup-837a51e6d9cdd08933597e2e2ac78f43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9696298" y="5143500"/>
            <a:ext cx="7429500" cy="9144"/>
          </a:xfrm>
          <a:prstGeom prst="rect">
            <a:avLst/>
          </a:prstGeom>
        </p:spPr>
      </p:pic>
      <p:pic>
        <p:nvPicPr>
          <p:cNvPr id="9" name="Image 3" descr="gen-dedup-837a51e6d9cdd08933597e2e2ac78f43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9696298" y="7258507"/>
            <a:ext cx="7429500" cy="914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61695" y="400507"/>
            <a:ext cx="10478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52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SLIDE 03 · 주인공이 물려받은 업무 조건</a:t>
            </a:r>
            <a:endParaRPr lang="en-US" sz="1050" dirty="0"/>
          </a:p>
        </p:txBody>
      </p:sp>
      <p:sp>
        <p:nvSpPr>
          <p:cNvPr id="11" name="Text 5"/>
          <p:cNvSpPr txBox="1"/>
          <p:nvPr/>
        </p:nvSpPr>
        <p:spPr>
          <a:xfrm>
            <a:off x="761695" y="1009498"/>
            <a:ext cx="142875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80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6개월 전, 이렇게 일했습니다.</a:t>
            </a:r>
            <a:endParaRPr lang="en-US" sz="6000" dirty="0"/>
          </a:p>
        </p:txBody>
      </p:sp>
      <p:sp>
        <p:nvSpPr>
          <p:cNvPr id="12" name="Text 6"/>
          <p:cNvSpPr txBox="1"/>
          <p:nvPr/>
        </p:nvSpPr>
        <p:spPr>
          <a:xfrm>
            <a:off x="761695" y="1962302"/>
            <a:ext cx="161931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dirty="0">
                <a:solidFill>
                  <a:srgbClr val="A41E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특별한 환경이 아니었습니다 — 여러분 책상과 똑같은 조건이었습니다.</a:t>
            </a:r>
            <a:endParaRPr lang="en-US" sz="2250" dirty="0"/>
          </a:p>
        </p:txBody>
      </p:sp>
      <p:sp>
        <p:nvSpPr>
          <p:cNvPr id="13" name="Text 7"/>
          <p:cNvSpPr txBox="1"/>
          <p:nvPr/>
        </p:nvSpPr>
        <p:spPr>
          <a:xfrm>
            <a:off x="1123798" y="3029407"/>
            <a:ext cx="6667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47" dirty="0">
                <a:solidFill>
                  <a:srgbClr val="1B1B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✗ 예전에는</a:t>
            </a:r>
            <a:endParaRPr lang="en-US" sz="1125" dirty="0"/>
          </a:p>
        </p:txBody>
      </p:sp>
      <p:sp>
        <p:nvSpPr>
          <p:cNvPr id="14" name="Text 8"/>
          <p:cNvSpPr txBox="1"/>
          <p:nvPr/>
        </p:nvSpPr>
        <p:spPr>
          <a:xfrm>
            <a:off x="1123798" y="3372307"/>
            <a:ext cx="7334402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ko-KR" altLang="en-US" sz="300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엑셀 </a:t>
            </a:r>
            <a:r>
              <a:rPr lang="en-US" sz="3000" b="1" dirty="0" err="1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계산하고</a:t>
            </a:r>
            <a:r>
              <a:rPr lang="en-US" sz="300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,</a:t>
            </a:r>
            <a:endParaRPr lang="en-US" sz="3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전화로 확인했습니다.</a:t>
            </a:r>
            <a:endParaRPr lang="en-US" sz="3000" dirty="0"/>
          </a:p>
        </p:txBody>
      </p:sp>
      <p:sp>
        <p:nvSpPr>
          <p:cNvPr id="15" name="Text 9"/>
          <p:cNvSpPr txBox="1"/>
          <p:nvPr/>
        </p:nvSpPr>
        <p:spPr>
          <a:xfrm>
            <a:off x="1123798" y="4646981"/>
            <a:ext cx="7334402" cy="2725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6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14</a:t>
            </a:r>
            <a:r>
              <a:rPr lang="ko-KR" altLang="en-US" sz="1875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 식당 하나의 구글 웹페이지 사용으로 식당 실적 누락</a:t>
            </a:r>
            <a:endParaRPr lang="en-US" sz="1875" dirty="0"/>
          </a:p>
          <a:p>
            <a:pPr marL="0" indent="0" algn="l">
              <a:lnSpc>
                <a:spcPts val="346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신청한도 초과 여부를 담당자가 일일이 검토</a:t>
            </a:r>
            <a:endParaRPr lang="en-US" sz="1875" dirty="0"/>
          </a:p>
          <a:p>
            <a:pPr marL="0" indent="0" algn="l">
              <a:lnSpc>
                <a:spcPts val="346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사장님과 전화 통화로 재확인</a:t>
            </a:r>
            <a:endParaRPr lang="en-US" sz="1875" dirty="0"/>
          </a:p>
          <a:p>
            <a:pPr marL="0" indent="0" algn="l">
              <a:lnSpc>
                <a:spcPts val="346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만족도조사 엑셀 응답을 문항별로 직접 집계</a:t>
            </a:r>
            <a:endParaRPr lang="en-US" sz="1875" dirty="0"/>
          </a:p>
          <a:p>
            <a:pPr marL="0" indent="0" algn="l">
              <a:lnSpc>
                <a:spcPts val="346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주관식 의견은 하나씩 읽어가며 분류</a:t>
            </a:r>
            <a:endParaRPr lang="en-US" sz="1875" dirty="0"/>
          </a:p>
          <a:p>
            <a:pPr marL="0" indent="0" algn="l">
              <a:lnSpc>
                <a:spcPts val="3469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계획서·공문은 빈 화면에서 처음부터 작성</a:t>
            </a:r>
            <a:endParaRPr lang="en-US" sz="1875" dirty="0"/>
          </a:p>
        </p:txBody>
      </p:sp>
      <p:sp>
        <p:nvSpPr>
          <p:cNvPr id="16" name="Text 10"/>
          <p:cNvSpPr txBox="1"/>
          <p:nvPr/>
        </p:nvSpPr>
        <p:spPr>
          <a:xfrm>
            <a:off x="1123798" y="8242402"/>
            <a:ext cx="733440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35"/>
              </a:lnSpc>
              <a:buNone/>
            </a:pPr>
            <a:r>
              <a:rPr lang="en-US" sz="2025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문제는 능력이 아니라</a:t>
            </a:r>
            <a:endParaRPr lang="en-US" sz="2025" dirty="0"/>
          </a:p>
          <a:p>
            <a:pPr marL="0" indent="0" algn="l">
              <a:lnSpc>
                <a:spcPts val="2835"/>
              </a:lnSpc>
              <a:buNone/>
            </a:pPr>
            <a:r>
              <a:rPr lang="en-US" sz="2025" b="1" dirty="0">
                <a:solidFill>
                  <a:srgbClr val="A41E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같은 일을 매번 처음부터 한다는 것</a:t>
            </a:r>
            <a:r>
              <a:rPr lang="en-US" sz="2025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이었습니다.</a:t>
            </a:r>
            <a:endParaRPr lang="en-US" sz="2025" dirty="0"/>
          </a:p>
        </p:txBody>
      </p:sp>
      <p:sp>
        <p:nvSpPr>
          <p:cNvPr id="17" name="Text 11"/>
          <p:cNvSpPr txBox="1"/>
          <p:nvPr/>
        </p:nvSpPr>
        <p:spPr>
          <a:xfrm>
            <a:off x="9696298" y="3029407"/>
            <a:ext cx="6667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47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가지고 있던 것 / 없던 것</a:t>
            </a:r>
            <a:endParaRPr lang="en-US" sz="1125" dirty="0"/>
          </a:p>
        </p:txBody>
      </p:sp>
      <p:sp>
        <p:nvSpPr>
          <p:cNvPr id="18" name="Text 12"/>
          <p:cNvSpPr txBox="1"/>
          <p:nvPr/>
        </p:nvSpPr>
        <p:spPr>
          <a:xfrm>
            <a:off x="9696298" y="3448202"/>
            <a:ext cx="742950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없던 것</a:t>
            </a:r>
            <a:endParaRPr lang="en-US" sz="2550" dirty="0"/>
          </a:p>
        </p:txBody>
      </p:sp>
      <p:sp>
        <p:nvSpPr>
          <p:cNvPr id="19" name="Text 13"/>
          <p:cNvSpPr txBox="1"/>
          <p:nvPr/>
        </p:nvSpPr>
        <p:spPr>
          <a:xfrm>
            <a:off x="9696298" y="3847795"/>
            <a:ext cx="7429500" cy="839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1800" dirty="0">
                <a:solidFill>
                  <a:srgbClr val="F4F4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코딩 지식 · 디자인 툴 · 개발 예산 · 외주 업체</a:t>
            </a:r>
            <a:endParaRPr lang="en-US" sz="1800" dirty="0"/>
          </a:p>
          <a:p>
            <a:pPr marL="0" indent="0" algn="l">
              <a:lnSpc>
                <a:spcPts val="3060"/>
              </a:lnSpc>
              <a:buNone/>
            </a:pPr>
            <a:r>
              <a:rPr lang="en-US" sz="1800" dirty="0">
                <a:solidFill>
                  <a:srgbClr val="F4F4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전산 담당 부서의 지원 · 별도 근무시간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9696298" y="5410505"/>
            <a:ext cx="742950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가지고 있던 것</a:t>
            </a:r>
            <a:endParaRPr lang="en-US" sz="2550" dirty="0"/>
          </a:p>
        </p:txBody>
      </p:sp>
      <p:sp>
        <p:nvSpPr>
          <p:cNvPr id="21" name="Text 15"/>
          <p:cNvSpPr txBox="1"/>
          <p:nvPr/>
        </p:nvSpPr>
        <p:spPr>
          <a:xfrm>
            <a:off x="9696298" y="5810098"/>
            <a:ext cx="7429500" cy="1229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1800" dirty="0">
                <a:solidFill>
                  <a:srgbClr val="F4F4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20년치 현장 감각 (의료기관 10년 + 보건소 10년)</a:t>
            </a:r>
            <a:endParaRPr lang="en-US" sz="1800" dirty="0"/>
          </a:p>
          <a:p>
            <a:pPr marL="0" indent="0" algn="l">
              <a:lnSpc>
                <a:spcPts val="3060"/>
              </a:lnSpc>
              <a:buNone/>
            </a:pPr>
            <a:r>
              <a:rPr lang="en-US" sz="1800" dirty="0">
                <a:solidFill>
                  <a:srgbClr val="F4F4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무엇이 불편한지 정확히 아는 눈</a:t>
            </a:r>
            <a:endParaRPr lang="en-US" sz="1800" dirty="0"/>
          </a:p>
          <a:p>
            <a:pPr marL="0" indent="0" algn="l">
              <a:lnSpc>
                <a:spcPts val="3060"/>
              </a:lnSpc>
              <a:buNone/>
            </a:pPr>
            <a:r>
              <a:rPr lang="en-US" sz="1800" dirty="0">
                <a:solidFill>
                  <a:srgbClr val="F4F4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말로 설명할 수 있는 업무 절차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9696298" y="7493508"/>
            <a:ext cx="74295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95"/>
              </a:lnSpc>
              <a:buNone/>
            </a:pPr>
            <a:r>
              <a:rPr lang="en-US" sz="2250" b="1" dirty="0">
                <a:solidFill>
                  <a:srgbClr val="A41E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AI가 요구하는 준비물은</a:t>
            </a:r>
            <a:endParaRPr lang="en-US" sz="2250" dirty="0"/>
          </a:p>
          <a:p>
            <a:pPr marL="0" indent="0" algn="l">
              <a:lnSpc>
                <a:spcPts val="3195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코딩이 아니라 '현장을 말로 설명하는 능력'이었습니다.</a:t>
            </a:r>
            <a:endParaRPr lang="en-US" sz="2250" dirty="0"/>
          </a:p>
        </p:txBody>
      </p:sp>
      <p:sp>
        <p:nvSpPr>
          <p:cNvPr id="23" name="Text 17"/>
          <p:cNvSpPr txBox="1"/>
          <p:nvPr/>
        </p:nvSpPr>
        <p:spPr>
          <a:xfrm>
            <a:off x="761695" y="10067544"/>
            <a:ext cx="12382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F4F4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근거: 원본 특강자료 p.14 물품신청 전/후 · p.15 만족도조사 전/후 · p.2 강사 경력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5620695" y="10067544"/>
            <a:ext cx="190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kern="0" spc="180" dirty="0">
                <a:solidFill>
                  <a:srgbClr val="F4F4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08783e6387252b8d8bc4de14f11b11b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1695" y="2743200"/>
            <a:ext cx="8220456" cy="2857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761695" y="2743200"/>
            <a:ext cx="75895" cy="2857500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381744" y="2743200"/>
            <a:ext cx="8220456" cy="2857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9381744" y="2743200"/>
            <a:ext cx="75895" cy="2857500"/>
          </a:xfrm>
          <a:prstGeom prst="rect">
            <a:avLst/>
          </a:prstGeom>
          <a:solidFill>
            <a:srgbClr val="A41E22"/>
          </a:solidFill>
          <a:ln w="12700">
            <a:solidFill>
              <a:srgbClr val="A41E22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1695" y="5962802"/>
            <a:ext cx="16763695" cy="2247595"/>
          </a:xfrm>
          <a:prstGeom prst="rect">
            <a:avLst/>
          </a:prstGeom>
          <a:solidFill>
            <a:srgbClr val="1B1B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10001707"/>
            <a:ext cx="18288000" cy="286207"/>
          </a:xfrm>
          <a:prstGeom prst="rect">
            <a:avLst/>
          </a:prstGeom>
          <a:solidFill>
            <a:srgbClr val="1B1B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gen-dedup-1fc49e52af7d2c98d9174e896e37a968.png"/>
          <p:cNvPicPr>
            <a:picLocks noChangeAspect="1"/>
          </p:cNvPicPr>
          <p:nvPr/>
        </p:nvPicPr>
        <p:blipFill>
          <a:blip r:embed="rId4"/>
          <a:srcRect t="-2078" b="-2078"/>
          <a:stretch/>
        </p:blipFill>
        <p:spPr>
          <a:xfrm>
            <a:off x="5048402" y="6515100"/>
            <a:ext cx="9144" cy="1466698"/>
          </a:xfrm>
          <a:prstGeom prst="rect">
            <a:avLst/>
          </a:prstGeom>
        </p:spPr>
      </p:pic>
      <p:pic>
        <p:nvPicPr>
          <p:cNvPr id="10" name="Image 2" descr="gen-dedup-1fc49e52af7d2c98d9174e896e37a968.png"/>
          <p:cNvPicPr>
            <a:picLocks noChangeAspect="1"/>
          </p:cNvPicPr>
          <p:nvPr/>
        </p:nvPicPr>
        <p:blipFill>
          <a:blip r:embed="rId4"/>
          <a:srcRect t="-2078" b="-2078"/>
          <a:stretch/>
        </p:blipFill>
        <p:spPr>
          <a:xfrm>
            <a:off x="9334195" y="6515100"/>
            <a:ext cx="9144" cy="1466698"/>
          </a:xfrm>
          <a:prstGeom prst="rect">
            <a:avLst/>
          </a:prstGeom>
        </p:spPr>
      </p:pic>
      <p:pic>
        <p:nvPicPr>
          <p:cNvPr id="11" name="Image 3" descr="gen-dedup-1fc49e52af7d2c98d9174e896e37a968.png"/>
          <p:cNvPicPr>
            <a:picLocks noChangeAspect="1"/>
          </p:cNvPicPr>
          <p:nvPr/>
        </p:nvPicPr>
        <p:blipFill>
          <a:blip r:embed="rId4"/>
          <a:srcRect t="-2078" b="-2078"/>
          <a:stretch/>
        </p:blipFill>
        <p:spPr>
          <a:xfrm>
            <a:off x="13620902" y="6515100"/>
            <a:ext cx="9144" cy="146669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761695" y="400507"/>
            <a:ext cx="10478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52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SLIDE 04 · 왜 내년이 아니라 지금인가</a:t>
            </a:r>
            <a:endParaRPr lang="en-US" sz="1050" dirty="0"/>
          </a:p>
        </p:txBody>
      </p:sp>
      <p:sp>
        <p:nvSpPr>
          <p:cNvPr id="13" name="Text 7"/>
          <p:cNvSpPr txBox="1"/>
          <p:nvPr/>
        </p:nvSpPr>
        <p:spPr>
          <a:xfrm>
            <a:off x="761695" y="990295"/>
            <a:ext cx="15240305" cy="781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50" b="1" kern="0" spc="-184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챗봇은 붕어빵 틀입니다.</a:t>
            </a:r>
            <a:endParaRPr lang="en-US" sz="6150" dirty="0"/>
          </a:p>
        </p:txBody>
      </p:sp>
      <p:sp>
        <p:nvSpPr>
          <p:cNvPr id="14" name="Text 8"/>
          <p:cNvSpPr txBox="1"/>
          <p:nvPr/>
        </p:nvSpPr>
        <p:spPr>
          <a:xfrm>
            <a:off x="761695" y="1943100"/>
            <a:ext cx="1657350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325" dirty="0">
                <a:solidFill>
                  <a:srgbClr val="A41E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 번 틀을 만들어두면 같은 모양·같은 맛이 계속 나옵니다. 그 틀을 만드는 기능이 최근에 열렸습니다.</a:t>
            </a:r>
            <a:endParaRPr lang="en-US" sz="2325" dirty="0"/>
          </a:p>
        </p:txBody>
      </p:sp>
      <p:sp>
        <p:nvSpPr>
          <p:cNvPr id="15" name="Text 9"/>
          <p:cNvSpPr txBox="1"/>
          <p:nvPr/>
        </p:nvSpPr>
        <p:spPr>
          <a:xfrm>
            <a:off x="1123798" y="2991002"/>
            <a:ext cx="6667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B1B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✗ 틀 없이 반죽만</a:t>
            </a:r>
            <a:endParaRPr lang="en-US" sz="1125" dirty="0"/>
          </a:p>
        </p:txBody>
      </p:sp>
      <p:sp>
        <p:nvSpPr>
          <p:cNvPr id="16" name="Text 10"/>
          <p:cNvSpPr txBox="1"/>
          <p:nvPr/>
        </p:nvSpPr>
        <p:spPr>
          <a:xfrm>
            <a:off x="1123798" y="3333902"/>
            <a:ext cx="733440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매번 처음부터 설명하고,</a:t>
            </a:r>
            <a:endParaRPr lang="en-US" sz="27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결과도 매번 달라집니다.</a:t>
            </a:r>
            <a:endParaRPr lang="en-US" sz="2700" dirty="0"/>
          </a:p>
        </p:txBody>
      </p:sp>
      <p:sp>
        <p:nvSpPr>
          <p:cNvPr id="17" name="Text 11"/>
          <p:cNvSpPr txBox="1"/>
          <p:nvPr/>
        </p:nvSpPr>
        <p:spPr>
          <a:xfrm>
            <a:off x="1123798" y="4441241"/>
            <a:ext cx="7334402" cy="80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33"/>
              </a:lnSpc>
              <a:buNone/>
            </a:pPr>
            <a:r>
              <a:rPr lang="en-US" sz="1725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같은 요청도 매번 다시 설명</a:t>
            </a:r>
            <a:endParaRPr lang="en-US" sz="1725" dirty="0"/>
          </a:p>
          <a:p>
            <a:pPr marL="0" indent="0" algn="l">
              <a:lnSpc>
                <a:spcPts val="2933"/>
              </a:lnSpc>
              <a:buNone/>
            </a:pPr>
            <a:r>
              <a:rPr lang="en-US" sz="1725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결과 품질이 들쭉날쭉</a:t>
            </a:r>
            <a:endParaRPr lang="en-US" sz="1725" dirty="0"/>
          </a:p>
        </p:txBody>
      </p:sp>
      <p:sp>
        <p:nvSpPr>
          <p:cNvPr id="18" name="Text 12"/>
          <p:cNvSpPr txBox="1"/>
          <p:nvPr/>
        </p:nvSpPr>
        <p:spPr>
          <a:xfrm>
            <a:off x="9743846" y="2991002"/>
            <a:ext cx="6667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붕어빵 틀에 넣으면</a:t>
            </a:r>
            <a:endParaRPr lang="en-US" sz="1125" dirty="0"/>
          </a:p>
        </p:txBody>
      </p:sp>
      <p:sp>
        <p:nvSpPr>
          <p:cNvPr id="19" name="Text 13"/>
          <p:cNvSpPr txBox="1"/>
          <p:nvPr/>
        </p:nvSpPr>
        <p:spPr>
          <a:xfrm>
            <a:off x="9743846" y="3333902"/>
            <a:ext cx="733440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 번 세팅해두면</a:t>
            </a:r>
            <a:endParaRPr lang="en-US" sz="27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언제나 같은 결과가 나옵니다.</a:t>
            </a:r>
            <a:endParaRPr lang="en-US" sz="2700" dirty="0"/>
          </a:p>
        </p:txBody>
      </p:sp>
      <p:sp>
        <p:nvSpPr>
          <p:cNvPr id="20" name="Text 14"/>
          <p:cNvSpPr txBox="1"/>
          <p:nvPr/>
        </p:nvSpPr>
        <p:spPr>
          <a:xfrm>
            <a:off x="9743846" y="4441241"/>
            <a:ext cx="7334402" cy="80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33"/>
              </a:lnSpc>
              <a:buNone/>
            </a:pPr>
            <a:r>
              <a:rPr lang="en-US" sz="1725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역할·자료를 미리 넣어두면 끝</a:t>
            </a:r>
            <a:endParaRPr lang="en-US" sz="1725" dirty="0"/>
          </a:p>
          <a:p>
            <a:pPr marL="0" indent="0" algn="l">
              <a:lnSpc>
                <a:spcPts val="2933"/>
              </a:lnSpc>
              <a:buNone/>
            </a:pPr>
            <a:r>
              <a:rPr lang="en-US" sz="1725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젬스·GPT·스킬이 바로 이 틀</a:t>
            </a:r>
            <a:endParaRPr lang="en-US" sz="1725" dirty="0"/>
          </a:p>
        </p:txBody>
      </p:sp>
      <p:sp>
        <p:nvSpPr>
          <p:cNvPr id="21" name="Text 15"/>
          <p:cNvSpPr txBox="1"/>
          <p:nvPr/>
        </p:nvSpPr>
        <p:spPr>
          <a:xfrm>
            <a:off x="1067105" y="6191402"/>
            <a:ext cx="9525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나만의 틀을 만드는 네 가지 방법</a:t>
            </a:r>
            <a:endParaRPr lang="en-US" sz="1050" dirty="0"/>
          </a:p>
        </p:txBody>
      </p:sp>
      <p:sp>
        <p:nvSpPr>
          <p:cNvPr id="22" name="Text 16"/>
          <p:cNvSpPr txBox="1"/>
          <p:nvPr/>
        </p:nvSpPr>
        <p:spPr>
          <a:xfrm>
            <a:off x="1067105" y="6590995"/>
            <a:ext cx="3810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제미나이 젬스</a:t>
            </a:r>
            <a:endParaRPr lang="en-US" sz="2325" dirty="0"/>
          </a:p>
        </p:txBody>
      </p:sp>
      <p:sp>
        <p:nvSpPr>
          <p:cNvPr id="23" name="Text 17"/>
          <p:cNvSpPr txBox="1"/>
          <p:nvPr/>
        </p:nvSpPr>
        <p:spPr>
          <a:xfrm>
            <a:off x="1067105" y="7046366"/>
            <a:ext cx="3715207" cy="68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575" dirty="0">
                <a:solidFill>
                  <a:srgbClr val="F4F4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자주 쓰는 역할·지침을</a:t>
            </a:r>
            <a:endParaRPr lang="en-US" sz="1575" dirty="0"/>
          </a:p>
          <a:p>
            <a:pPr marL="0" indent="0" algn="l">
              <a:lnSpc>
                <a:spcPts val="2520"/>
              </a:lnSpc>
              <a:buNone/>
            </a:pPr>
            <a:r>
              <a:rPr lang="en-US" sz="1575" dirty="0">
                <a:solidFill>
                  <a:srgbClr val="F4F4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저장해두고 바로 불러씁니다</a:t>
            </a:r>
            <a:endParaRPr lang="en-US" sz="1575" dirty="0"/>
          </a:p>
        </p:txBody>
      </p:sp>
      <p:sp>
        <p:nvSpPr>
          <p:cNvPr id="24" name="Text 18"/>
          <p:cNvSpPr txBox="1"/>
          <p:nvPr/>
        </p:nvSpPr>
        <p:spPr>
          <a:xfrm>
            <a:off x="5352898" y="6590995"/>
            <a:ext cx="3810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챗지피티 GPT</a:t>
            </a:r>
            <a:endParaRPr lang="en-US" sz="2325" dirty="0"/>
          </a:p>
        </p:txBody>
      </p:sp>
      <p:sp>
        <p:nvSpPr>
          <p:cNvPr id="25" name="Text 19"/>
          <p:cNvSpPr txBox="1"/>
          <p:nvPr/>
        </p:nvSpPr>
        <p:spPr>
          <a:xfrm>
            <a:off x="5352898" y="7046366"/>
            <a:ext cx="3715207" cy="68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575" dirty="0">
                <a:solidFill>
                  <a:srgbClr val="F4F4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맞춤 챗봇을 만들어</a:t>
            </a:r>
            <a:endParaRPr lang="en-US" sz="1575" dirty="0"/>
          </a:p>
          <a:p>
            <a:pPr marL="0" indent="0" algn="l">
              <a:lnSpc>
                <a:spcPts val="2520"/>
              </a:lnSpc>
              <a:buNone/>
            </a:pPr>
            <a:r>
              <a:rPr lang="en-US" sz="1575" dirty="0">
                <a:solidFill>
                  <a:srgbClr val="F4F4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업무에 반복 활용합니다</a:t>
            </a:r>
            <a:endParaRPr lang="en-US" sz="1575" dirty="0"/>
          </a:p>
        </p:txBody>
      </p:sp>
      <p:sp>
        <p:nvSpPr>
          <p:cNvPr id="26" name="Text 20"/>
          <p:cNvSpPr txBox="1"/>
          <p:nvPr/>
        </p:nvSpPr>
        <p:spPr>
          <a:xfrm>
            <a:off x="9639605" y="6590995"/>
            <a:ext cx="3810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클로드 스킬</a:t>
            </a:r>
            <a:endParaRPr lang="en-US" sz="2325" dirty="0"/>
          </a:p>
        </p:txBody>
      </p:sp>
      <p:sp>
        <p:nvSpPr>
          <p:cNvPr id="27" name="Text 21"/>
          <p:cNvSpPr txBox="1"/>
          <p:nvPr/>
        </p:nvSpPr>
        <p:spPr>
          <a:xfrm>
            <a:off x="9639605" y="7046366"/>
            <a:ext cx="3715207" cy="68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575" dirty="0">
                <a:solidFill>
                  <a:srgbClr val="F4F4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매뉴얼을 등록해두면</a:t>
            </a:r>
            <a:endParaRPr lang="en-US" sz="1575" dirty="0"/>
          </a:p>
          <a:p>
            <a:pPr marL="0" indent="0" algn="l">
              <a:lnSpc>
                <a:spcPts val="2520"/>
              </a:lnSpc>
              <a:buNone/>
            </a:pPr>
            <a:r>
              <a:rPr lang="en-US" sz="1575" dirty="0">
                <a:solidFill>
                  <a:srgbClr val="F4F4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방식대로 결과를 만듭니다</a:t>
            </a:r>
            <a:endParaRPr lang="en-US" sz="1575" dirty="0"/>
          </a:p>
        </p:txBody>
      </p:sp>
      <p:sp>
        <p:nvSpPr>
          <p:cNvPr id="28" name="Text 22"/>
          <p:cNvSpPr txBox="1"/>
          <p:nvPr/>
        </p:nvSpPr>
        <p:spPr>
          <a:xfrm>
            <a:off x="13925398" y="6590995"/>
            <a:ext cx="3620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클로드 프로젝트</a:t>
            </a:r>
            <a:endParaRPr lang="en-US" sz="2325" dirty="0"/>
          </a:p>
        </p:txBody>
      </p:sp>
      <p:sp>
        <p:nvSpPr>
          <p:cNvPr id="29" name="Text 23"/>
          <p:cNvSpPr txBox="1"/>
          <p:nvPr/>
        </p:nvSpPr>
        <p:spPr>
          <a:xfrm>
            <a:off x="13925398" y="7046366"/>
            <a:ext cx="3525012" cy="68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575" dirty="0">
                <a:solidFill>
                  <a:srgbClr val="F4F4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관련 자료를 모아두고</a:t>
            </a:r>
            <a:endParaRPr lang="en-US" sz="1575" dirty="0"/>
          </a:p>
          <a:p>
            <a:pPr marL="0" indent="0" algn="l">
              <a:lnSpc>
                <a:spcPts val="2520"/>
              </a:lnSpc>
              <a:buNone/>
            </a:pPr>
            <a:r>
              <a:rPr lang="en-US" sz="1575" dirty="0">
                <a:solidFill>
                  <a:srgbClr val="F4F4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흐름으로 이어갑니다</a:t>
            </a:r>
            <a:endParaRPr lang="en-US" sz="1575" dirty="0"/>
          </a:p>
        </p:txBody>
      </p:sp>
      <p:sp>
        <p:nvSpPr>
          <p:cNvPr id="30" name="Text 24"/>
          <p:cNvSpPr txBox="1"/>
          <p:nvPr/>
        </p:nvSpPr>
        <p:spPr>
          <a:xfrm>
            <a:off x="761695" y="8572500"/>
            <a:ext cx="1676461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파일 업로드, 대화 기억, 이어서 수정 — </a:t>
            </a:r>
            <a:r>
              <a:rPr lang="en-US" sz="2550" b="1" dirty="0">
                <a:solidFill>
                  <a:srgbClr val="A41E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세 가지는 이미 다 됩니다.</a:t>
            </a:r>
            <a:r>
              <a:rPr lang="en-US" sz="2550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기다릴 이유가 없습니다.</a:t>
            </a:r>
            <a:endParaRPr lang="en-US" sz="2550" dirty="0"/>
          </a:p>
        </p:txBody>
      </p:sp>
      <p:sp>
        <p:nvSpPr>
          <p:cNvPr id="31" name="Text 25"/>
          <p:cNvSpPr txBox="1"/>
          <p:nvPr/>
        </p:nvSpPr>
        <p:spPr>
          <a:xfrm>
            <a:off x="761695" y="10067544"/>
            <a:ext cx="12382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F4F4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근거: 원본 특강자료 p.9 붕어빵 비유 · p.10 젬스/GPT/스킬/프로젝트 · p.11 기본기 3가지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15620695" y="10067544"/>
            <a:ext cx="190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kern="0" spc="180" dirty="0">
                <a:solidFill>
                  <a:srgbClr val="F4F4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08783e6387252b8d8bc4de14f11b11b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430500" y="323698"/>
            <a:ext cx="2095805" cy="552298"/>
          </a:xfrm>
          <a:prstGeom prst="rect">
            <a:avLst/>
          </a:prstGeom>
          <a:solidFill>
            <a:srgbClr val="1B1B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61695" y="2743200"/>
            <a:ext cx="16840505" cy="20381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761695" y="2743200"/>
            <a:ext cx="75895" cy="2038198"/>
          </a:xfrm>
          <a:prstGeom prst="rect">
            <a:avLst/>
          </a:prstGeom>
          <a:solidFill>
            <a:srgbClr val="A41E22"/>
          </a:solidFill>
          <a:ln w="12700">
            <a:solidFill>
              <a:srgbClr val="A41E22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1695" y="4934102"/>
            <a:ext cx="16840505" cy="18095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761695" y="4934102"/>
            <a:ext cx="75895" cy="1809598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1695" y="6896405"/>
            <a:ext cx="16840505" cy="1809598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9" name="Shape 6"/>
          <p:cNvSpPr/>
          <p:nvPr/>
        </p:nvSpPr>
        <p:spPr>
          <a:xfrm>
            <a:off x="761695" y="6896405"/>
            <a:ext cx="75895" cy="1809598"/>
          </a:xfrm>
          <a:prstGeom prst="rect">
            <a:avLst/>
          </a:prstGeom>
          <a:solidFill>
            <a:srgbClr val="A41E22"/>
          </a:solidFill>
          <a:ln w="12700">
            <a:solidFill>
              <a:srgbClr val="A41E22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0" y="10001707"/>
            <a:ext cx="18288000" cy="286207"/>
          </a:xfrm>
          <a:prstGeom prst="rect">
            <a:avLst/>
          </a:prstGeom>
          <a:solidFill>
            <a:srgbClr val="1B1B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gen-dedup-2a4e36414c5b20c1b98d4906e7c110ab.png"/>
          <p:cNvPicPr>
            <a:picLocks noChangeAspect="1"/>
          </p:cNvPicPr>
          <p:nvPr/>
        </p:nvPicPr>
        <p:blipFill>
          <a:blip r:embed="rId4"/>
          <a:srcRect t="-2078" b="-2078"/>
          <a:stretch/>
        </p:blipFill>
        <p:spPr>
          <a:xfrm>
            <a:off x="6953098" y="2971800"/>
            <a:ext cx="9144" cy="1580998"/>
          </a:xfrm>
          <a:prstGeom prst="rect">
            <a:avLst/>
          </a:prstGeom>
        </p:spPr>
      </p:pic>
      <p:pic>
        <p:nvPicPr>
          <p:cNvPr id="12" name="Image 2" descr="gen-dedup-8333fa689771cb1d79e8b8844d113eed.png"/>
          <p:cNvPicPr>
            <a:picLocks noChangeAspect="1"/>
          </p:cNvPicPr>
          <p:nvPr/>
        </p:nvPicPr>
        <p:blipFill>
          <a:blip r:embed="rId5"/>
          <a:srcRect t="-2078" b="-2078"/>
          <a:stretch/>
        </p:blipFill>
        <p:spPr>
          <a:xfrm>
            <a:off x="6953098" y="5162702"/>
            <a:ext cx="9144" cy="1352398"/>
          </a:xfrm>
          <a:prstGeom prst="rect">
            <a:avLst/>
          </a:prstGeom>
        </p:spPr>
      </p:pic>
      <p:pic>
        <p:nvPicPr>
          <p:cNvPr id="13" name="Image 3" descr="gen-dedup-7a9199b7370f3b15891340817548a6b7.png"/>
          <p:cNvPicPr>
            <a:picLocks noChangeAspect="1"/>
          </p:cNvPicPr>
          <p:nvPr/>
        </p:nvPicPr>
        <p:blipFill>
          <a:blip r:embed="rId6"/>
          <a:srcRect t="-2078" b="-2078"/>
          <a:stretch/>
        </p:blipFill>
        <p:spPr>
          <a:xfrm>
            <a:off x="6953098" y="7125005"/>
            <a:ext cx="9144" cy="135239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61695" y="400507"/>
            <a:ext cx="11430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52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SLIDE 05 · 책상 위에 놓인 선택지 세 개</a:t>
            </a:r>
            <a:endParaRPr lang="en-US" sz="1050" dirty="0"/>
          </a:p>
        </p:txBody>
      </p:sp>
      <p:sp>
        <p:nvSpPr>
          <p:cNvPr id="15" name="Text 9"/>
          <p:cNvSpPr txBox="1"/>
          <p:nvPr/>
        </p:nvSpPr>
        <p:spPr>
          <a:xfrm>
            <a:off x="15602407" y="418795"/>
            <a:ext cx="18105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kern="0" spc="165" dirty="0">
                <a:solidFill>
                  <a:srgbClr val="F4F4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판단 시간</a:t>
            </a:r>
            <a:endParaRPr lang="en-US" sz="825" dirty="0"/>
          </a:p>
        </p:txBody>
      </p:sp>
      <p:sp>
        <p:nvSpPr>
          <p:cNvPr id="16" name="Text 10"/>
          <p:cNvSpPr txBox="1"/>
          <p:nvPr/>
        </p:nvSpPr>
        <p:spPr>
          <a:xfrm>
            <a:off x="15602407" y="571500"/>
            <a:ext cx="1810512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2분</a:t>
            </a:r>
            <a:endParaRPr lang="en-US" sz="1650" dirty="0"/>
          </a:p>
        </p:txBody>
      </p:sp>
      <p:sp>
        <p:nvSpPr>
          <p:cNvPr id="17" name="Text 11"/>
          <p:cNvSpPr txBox="1"/>
          <p:nvPr/>
        </p:nvSpPr>
        <p:spPr>
          <a:xfrm>
            <a:off x="761695" y="1009498"/>
            <a:ext cx="142875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80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무엇부터 넘기시겠습니까?</a:t>
            </a:r>
            <a:endParaRPr lang="en-US" sz="6000" dirty="0"/>
          </a:p>
        </p:txBody>
      </p:sp>
      <p:sp>
        <p:nvSpPr>
          <p:cNvPr id="18" name="Text 12"/>
          <p:cNvSpPr txBox="1"/>
          <p:nvPr/>
        </p:nvSpPr>
        <p:spPr>
          <a:xfrm>
            <a:off x="761695" y="1962302"/>
            <a:ext cx="165735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dirty="0">
                <a:solidFill>
                  <a:srgbClr val="A41E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셋 중 하나만 고르십시오. 동시에 셋을 고르는 선택은 결국 아무것도 안 하는 선택입니다.</a:t>
            </a:r>
            <a:endParaRPr lang="en-US" sz="2250" dirty="0"/>
          </a:p>
        </p:txBody>
      </p:sp>
      <p:sp>
        <p:nvSpPr>
          <p:cNvPr id="19" name="Text 13"/>
          <p:cNvSpPr txBox="1"/>
          <p:nvPr/>
        </p:nvSpPr>
        <p:spPr>
          <a:xfrm>
            <a:off x="1123798" y="2971800"/>
            <a:ext cx="1905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47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선택지 A</a:t>
            </a:r>
            <a:endParaRPr lang="en-US" sz="1125" dirty="0"/>
          </a:p>
        </p:txBody>
      </p:sp>
      <p:sp>
        <p:nvSpPr>
          <p:cNvPr id="20" name="Text 14"/>
          <p:cNvSpPr txBox="1"/>
          <p:nvPr/>
        </p:nvSpPr>
        <p:spPr>
          <a:xfrm>
            <a:off x="1123798" y="3295498"/>
            <a:ext cx="5761634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반복되는 통계·문서 정리</a:t>
            </a:r>
            <a:endParaRPr lang="en-US" sz="3150" dirty="0"/>
          </a:p>
        </p:txBody>
      </p:sp>
      <p:sp>
        <p:nvSpPr>
          <p:cNvPr id="21" name="Text 15"/>
          <p:cNvSpPr txBox="1"/>
          <p:nvPr/>
        </p:nvSpPr>
        <p:spPr>
          <a:xfrm>
            <a:off x="1123798" y="4229100"/>
            <a:ext cx="5334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매주·매달 똑같은 양식으로 반복되는 일</a:t>
            </a:r>
            <a:endParaRPr lang="en-US" sz="1575" dirty="0"/>
          </a:p>
        </p:txBody>
      </p:sp>
      <p:sp>
        <p:nvSpPr>
          <p:cNvPr id="22" name="Text 16"/>
          <p:cNvSpPr txBox="1"/>
          <p:nvPr/>
        </p:nvSpPr>
        <p:spPr>
          <a:xfrm>
            <a:off x="7334402" y="3191256"/>
            <a:ext cx="7620610" cy="119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 절차가 머릿속에 있고, 결과물 형태도 정해져 있습니다.</a:t>
            </a:r>
            <a:endParaRPr lang="en-US" sz="1875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말로 설명만 하면 AI가 그대로 초안을 냅니다.</a:t>
            </a:r>
            <a:endParaRPr lang="en-US" sz="1875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1875" b="1" dirty="0">
                <a:solidFill>
                  <a:srgbClr val="A41E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오늘 실습에서 30분 안에 결과가 나오는 유일한 칸입니다.</a:t>
            </a:r>
            <a:endParaRPr lang="en-US" sz="1875" dirty="0"/>
          </a:p>
        </p:txBody>
      </p:sp>
      <p:sp>
        <p:nvSpPr>
          <p:cNvPr id="23" name="Text 17"/>
          <p:cNvSpPr txBox="1"/>
          <p:nvPr/>
        </p:nvSpPr>
        <p:spPr>
          <a:xfrm>
            <a:off x="15430500" y="3353105"/>
            <a:ext cx="19056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A41E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지금</a:t>
            </a:r>
            <a:endParaRPr lang="en-US" sz="1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A41E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가능</a:t>
            </a:r>
            <a:endParaRPr lang="en-US" sz="1950" dirty="0"/>
          </a:p>
        </p:txBody>
      </p:sp>
      <p:sp>
        <p:nvSpPr>
          <p:cNvPr id="24" name="Text 18"/>
          <p:cNvSpPr txBox="1"/>
          <p:nvPr/>
        </p:nvSpPr>
        <p:spPr>
          <a:xfrm>
            <a:off x="1123798" y="5162702"/>
            <a:ext cx="1905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47" dirty="0">
                <a:solidFill>
                  <a:srgbClr val="1B1B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선택지 B</a:t>
            </a:r>
            <a:endParaRPr lang="en-US" sz="1125" dirty="0"/>
          </a:p>
        </p:txBody>
      </p:sp>
      <p:sp>
        <p:nvSpPr>
          <p:cNvPr id="25" name="Text 19"/>
          <p:cNvSpPr txBox="1"/>
          <p:nvPr/>
        </p:nvSpPr>
        <p:spPr>
          <a:xfrm>
            <a:off x="1123798" y="5486400"/>
            <a:ext cx="533461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완전히 새로운 정책 설계</a:t>
            </a:r>
            <a:endParaRPr lang="en-US" sz="2850" dirty="0"/>
          </a:p>
        </p:txBody>
      </p:sp>
      <p:sp>
        <p:nvSpPr>
          <p:cNvPr id="26" name="Text 20"/>
          <p:cNvSpPr txBox="1"/>
          <p:nvPr/>
        </p:nvSpPr>
        <p:spPr>
          <a:xfrm>
            <a:off x="1123798" y="6172200"/>
            <a:ext cx="5334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선례도 양식도 없는 일</a:t>
            </a:r>
            <a:endParaRPr lang="en-US" sz="1575" dirty="0"/>
          </a:p>
        </p:txBody>
      </p:sp>
      <p:sp>
        <p:nvSpPr>
          <p:cNvPr id="27" name="Text 21"/>
          <p:cNvSpPr txBox="1"/>
          <p:nvPr/>
        </p:nvSpPr>
        <p:spPr>
          <a:xfrm>
            <a:off x="7334402" y="5343754"/>
            <a:ext cx="7620610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75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초안은 씁니다. 다만 무엇이 맞는지 판단할 사람은 여전히 우리입니다.</a:t>
            </a:r>
            <a:endParaRPr lang="en-US" sz="1875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1875" b="1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자료조사·구조 잡기 단계에만 쓰십시오.</a:t>
            </a:r>
            <a:endParaRPr lang="en-US" sz="1875" dirty="0"/>
          </a:p>
        </p:txBody>
      </p:sp>
      <p:sp>
        <p:nvSpPr>
          <p:cNvPr id="28" name="Text 22"/>
          <p:cNvSpPr txBox="1"/>
          <p:nvPr/>
        </p:nvSpPr>
        <p:spPr>
          <a:xfrm>
            <a:off x="15430500" y="5544007"/>
            <a:ext cx="19056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부분</a:t>
            </a:r>
            <a:endParaRPr lang="en-US" sz="1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활용</a:t>
            </a:r>
            <a:endParaRPr lang="en-US" sz="1950" dirty="0"/>
          </a:p>
        </p:txBody>
      </p:sp>
      <p:sp>
        <p:nvSpPr>
          <p:cNvPr id="29" name="Text 23"/>
          <p:cNvSpPr txBox="1"/>
          <p:nvPr/>
        </p:nvSpPr>
        <p:spPr>
          <a:xfrm>
            <a:off x="1123798" y="7125005"/>
            <a:ext cx="1905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47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선택지 C</a:t>
            </a:r>
            <a:endParaRPr lang="en-US" sz="1125" dirty="0"/>
          </a:p>
        </p:txBody>
      </p:sp>
      <p:sp>
        <p:nvSpPr>
          <p:cNvPr id="30" name="Text 24"/>
          <p:cNvSpPr txBox="1"/>
          <p:nvPr/>
        </p:nvSpPr>
        <p:spPr>
          <a:xfrm>
            <a:off x="1123798" y="7448702"/>
            <a:ext cx="533461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법령 해석·예산 재배정</a:t>
            </a:r>
            <a:endParaRPr lang="en-US" sz="2850" dirty="0"/>
          </a:p>
        </p:txBody>
      </p:sp>
      <p:sp>
        <p:nvSpPr>
          <p:cNvPr id="31" name="Text 25"/>
          <p:cNvSpPr txBox="1"/>
          <p:nvPr/>
        </p:nvSpPr>
        <p:spPr>
          <a:xfrm>
            <a:off x="1123798" y="8134502"/>
            <a:ext cx="5334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dirty="0">
                <a:solidFill>
                  <a:srgbClr val="F4F4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책임이 사람에게 남는 일</a:t>
            </a:r>
            <a:endParaRPr lang="en-US" sz="1575" dirty="0"/>
          </a:p>
        </p:txBody>
      </p:sp>
      <p:sp>
        <p:nvSpPr>
          <p:cNvPr id="32" name="Text 26"/>
          <p:cNvSpPr txBox="1"/>
          <p:nvPr/>
        </p:nvSpPr>
        <p:spPr>
          <a:xfrm>
            <a:off x="7334402" y="7306056"/>
            <a:ext cx="7620610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75" dirty="0">
                <a:solidFill>
                  <a:srgbClr val="F4F4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답이 그럴듯해도 근거가 틀릴 수 있습니다. 확인 책임은 우리에게 있습니다.</a:t>
            </a:r>
            <a:endParaRPr lang="en-US" sz="1875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1875" b="1" dirty="0">
                <a:solidFill>
                  <a:srgbClr val="A41E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최종 판단은 넘기지 마십시오.</a:t>
            </a:r>
            <a:endParaRPr lang="en-US" sz="1875" dirty="0"/>
          </a:p>
        </p:txBody>
      </p:sp>
      <p:sp>
        <p:nvSpPr>
          <p:cNvPr id="33" name="Text 27"/>
          <p:cNvSpPr txBox="1"/>
          <p:nvPr/>
        </p:nvSpPr>
        <p:spPr>
          <a:xfrm>
            <a:off x="15430500" y="7505395"/>
            <a:ext cx="19056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A41E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넘기지</a:t>
            </a:r>
            <a:endParaRPr lang="en-US" sz="1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A41E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말기</a:t>
            </a:r>
            <a:endParaRPr lang="en-US" sz="1950" dirty="0"/>
          </a:p>
        </p:txBody>
      </p:sp>
      <p:sp>
        <p:nvSpPr>
          <p:cNvPr id="34" name="Text 28"/>
          <p:cNvSpPr txBox="1"/>
          <p:nvPr/>
        </p:nvSpPr>
        <p:spPr>
          <a:xfrm>
            <a:off x="761695" y="8973007"/>
            <a:ext cx="167646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저는 A에서 시작했습니다. </a:t>
            </a:r>
            <a:r>
              <a:rPr lang="en-US" sz="2400" b="1" dirty="0">
                <a:solidFill>
                  <a:srgbClr val="A41E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협력식당 물품신청 하나</a:t>
            </a:r>
            <a:r>
              <a:rPr lang="en-US" sz="2400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였고, 그게 38건의 출발점이었습니다.</a:t>
            </a:r>
            <a:endParaRPr lang="en-US" sz="2400" dirty="0"/>
          </a:p>
        </p:txBody>
      </p:sp>
      <p:sp>
        <p:nvSpPr>
          <p:cNvPr id="35" name="Text 29"/>
          <p:cNvSpPr txBox="1"/>
          <p:nvPr/>
        </p:nvSpPr>
        <p:spPr>
          <a:xfrm>
            <a:off x="761695" y="10067544"/>
            <a:ext cx="12382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F4F4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근거: 원본 특강자료 p.17 QUIZ 선택지 A–D · p.14 물품신청 시스템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15620695" y="10067544"/>
            <a:ext cx="190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kern="0" spc="180" dirty="0">
                <a:solidFill>
                  <a:srgbClr val="F4F4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08783e6387252b8d8bc4de14f11b11b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334695" y="990295"/>
            <a:ext cx="4190695" cy="1638605"/>
          </a:xfrm>
          <a:prstGeom prst="rect">
            <a:avLst/>
          </a:prstGeom>
          <a:solidFill>
            <a:srgbClr val="1B1B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61695" y="3029407"/>
            <a:ext cx="4058107" cy="3886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761695" y="3029407"/>
            <a:ext cx="4058107" cy="75895"/>
          </a:xfrm>
          <a:prstGeom prst="rect">
            <a:avLst/>
          </a:prstGeom>
          <a:solidFill>
            <a:srgbClr val="A41E22"/>
          </a:solidFill>
          <a:ln w="12700">
            <a:solidFill>
              <a:srgbClr val="A41E22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09998" y="3029407"/>
            <a:ext cx="4058107" cy="3886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009998" y="3029407"/>
            <a:ext cx="4058107" cy="75895"/>
          </a:xfrm>
          <a:prstGeom prst="rect">
            <a:avLst/>
          </a:prstGeom>
          <a:solidFill>
            <a:srgbClr val="A41E22"/>
          </a:solidFill>
          <a:ln w="12700">
            <a:solidFill>
              <a:srgbClr val="A41E22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258300" y="3029407"/>
            <a:ext cx="4058107" cy="3886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9258300" y="3029407"/>
            <a:ext cx="4058107" cy="75895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506602" y="3029407"/>
            <a:ext cx="4019702" cy="3886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13506602" y="3029407"/>
            <a:ext cx="4019702" cy="75895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1695" y="7125005"/>
            <a:ext cx="16763695" cy="1772107"/>
          </a:xfrm>
          <a:prstGeom prst="rect">
            <a:avLst/>
          </a:prstGeom>
          <a:solidFill>
            <a:srgbClr val="1B1B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10001707"/>
            <a:ext cx="18288000" cy="286207"/>
          </a:xfrm>
          <a:prstGeom prst="rect">
            <a:avLst/>
          </a:prstGeom>
          <a:solidFill>
            <a:srgbClr val="1B1B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1" descr="gen-dedup-3b23acc6084fcbf9ac4c5d47458e0fbd.png"/>
          <p:cNvPicPr>
            <a:picLocks noChangeAspect="1"/>
          </p:cNvPicPr>
          <p:nvPr/>
        </p:nvPicPr>
        <p:blipFill>
          <a:blip r:embed="rId4"/>
          <a:srcRect t="-404" b="-404"/>
          <a:stretch/>
        </p:blipFill>
        <p:spPr>
          <a:xfrm>
            <a:off x="13334695" y="990295"/>
            <a:ext cx="4190695" cy="5760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61695" y="400507"/>
            <a:ext cx="11430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52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SLIDE 06 · 분석의 힘 1 / 3 — 결과물은 실제로 돌아가는가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761695" y="990295"/>
            <a:ext cx="12382805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80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오늘도 돌아갑니다.</a:t>
            </a:r>
            <a:endParaRPr lang="en-US" sz="6000" dirty="0"/>
          </a:p>
        </p:txBody>
      </p:sp>
      <p:sp>
        <p:nvSpPr>
          <p:cNvPr id="17" name="Text 13"/>
          <p:cNvSpPr txBox="1"/>
          <p:nvPr/>
        </p:nvSpPr>
        <p:spPr>
          <a:xfrm>
            <a:off x="761695" y="1943100"/>
            <a:ext cx="12382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75" dirty="0">
                <a:solidFill>
                  <a:srgbClr val="A41E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시범 화면이 아니라 현업 운영 시스템입니다.</a:t>
            </a:r>
            <a:endParaRPr lang="en-US" sz="2175" dirty="0"/>
          </a:p>
        </p:txBody>
      </p:sp>
      <p:sp>
        <p:nvSpPr>
          <p:cNvPr id="18" name="Text 14"/>
          <p:cNvSpPr txBox="1"/>
          <p:nvPr/>
        </p:nvSpPr>
        <p:spPr>
          <a:xfrm>
            <a:off x="13601700" y="1218895"/>
            <a:ext cx="37152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215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운영 중인 웹시스템</a:t>
            </a:r>
            <a:endParaRPr lang="en-US" sz="975" dirty="0"/>
          </a:p>
        </p:txBody>
      </p:sp>
      <p:sp>
        <p:nvSpPr>
          <p:cNvPr id="19" name="Text 15"/>
          <p:cNvSpPr txBox="1"/>
          <p:nvPr/>
        </p:nvSpPr>
        <p:spPr>
          <a:xfrm>
            <a:off x="13601700" y="1505102"/>
            <a:ext cx="3715207" cy="705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55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14개</a:t>
            </a:r>
            <a:endParaRPr lang="en-US" sz="5550" dirty="0"/>
          </a:p>
        </p:txBody>
      </p:sp>
      <p:sp>
        <p:nvSpPr>
          <p:cNvPr id="20" name="Text 16"/>
          <p:cNvSpPr txBox="1"/>
          <p:nvPr/>
        </p:nvSpPr>
        <p:spPr>
          <a:xfrm>
            <a:off x="13601700" y="2305202"/>
            <a:ext cx="37152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F4F4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전체 결과물 38건 중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1067105" y="3295498"/>
            <a:ext cx="35250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95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975" dirty="0"/>
          </a:p>
        </p:txBody>
      </p:sp>
      <p:sp>
        <p:nvSpPr>
          <p:cNvPr id="22" name="Text 18"/>
          <p:cNvSpPr txBox="1"/>
          <p:nvPr/>
        </p:nvSpPr>
        <p:spPr>
          <a:xfrm>
            <a:off x="1067105" y="3581705"/>
            <a:ext cx="3525012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물품신청</a:t>
            </a:r>
            <a:endParaRPr lang="en-US" sz="28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시스템</a:t>
            </a:r>
            <a:endParaRPr lang="en-US" sz="2850" dirty="0"/>
          </a:p>
        </p:txBody>
      </p:sp>
      <p:sp>
        <p:nvSpPr>
          <p:cNvPr id="23" name="Text 19"/>
          <p:cNvSpPr txBox="1"/>
          <p:nvPr/>
        </p:nvSpPr>
        <p:spPr>
          <a:xfrm>
            <a:off x="1067105" y="4629607"/>
            <a:ext cx="3525012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23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협력식당 </a:t>
            </a:r>
            <a:r>
              <a:rPr lang="en-US" sz="1650" b="1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14개소</a:t>
            </a:r>
            <a:r>
              <a:rPr lang="en-US" sz="1650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실적별 신청한도를 자동 산출하고, 초과 신청은 시스템이 원천 차단합니다.</a:t>
            </a:r>
            <a:endParaRPr lang="en-US" sz="1650" dirty="0"/>
          </a:p>
        </p:txBody>
      </p:sp>
      <p:sp>
        <p:nvSpPr>
          <p:cNvPr id="24" name="Text 20"/>
          <p:cNvSpPr txBox="1"/>
          <p:nvPr/>
        </p:nvSpPr>
        <p:spPr>
          <a:xfrm>
            <a:off x="1067105" y="6324905"/>
            <a:ext cx="35250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84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담당자 검토·통화 확인 → 실시간 자동 처리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5315407" y="3295498"/>
            <a:ext cx="35250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95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975" dirty="0"/>
          </a:p>
        </p:txBody>
      </p:sp>
      <p:sp>
        <p:nvSpPr>
          <p:cNvPr id="26" name="Text 22"/>
          <p:cNvSpPr txBox="1"/>
          <p:nvPr/>
        </p:nvSpPr>
        <p:spPr>
          <a:xfrm>
            <a:off x="5315407" y="3581705"/>
            <a:ext cx="3525012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만족도조사</a:t>
            </a:r>
            <a:endParaRPr lang="en-US" sz="28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자동화</a:t>
            </a:r>
            <a:endParaRPr lang="en-US" sz="2850" dirty="0"/>
          </a:p>
        </p:txBody>
      </p:sp>
      <p:sp>
        <p:nvSpPr>
          <p:cNvPr id="27" name="Text 23"/>
          <p:cNvSpPr txBox="1"/>
          <p:nvPr/>
        </p:nvSpPr>
        <p:spPr>
          <a:xfrm>
            <a:off x="5315407" y="4629607"/>
            <a:ext cx="352501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23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엑셀 응답만 넣으면 문항별 통계·차트가 자동 생성되고 </a:t>
            </a:r>
            <a:r>
              <a:rPr lang="en-US" sz="1650" b="1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시트</a:t>
            </a:r>
            <a:r>
              <a:rPr lang="en-US" sz="1650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정리됩니다.</a:t>
            </a:r>
            <a:endParaRPr lang="en-US" sz="1650" dirty="0"/>
          </a:p>
        </p:txBody>
      </p:sp>
      <p:sp>
        <p:nvSpPr>
          <p:cNvPr id="28" name="Text 24"/>
          <p:cNvSpPr txBox="1"/>
          <p:nvPr/>
        </p:nvSpPr>
        <p:spPr>
          <a:xfrm>
            <a:off x="5315407" y="6324905"/>
            <a:ext cx="35250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84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수작업 집계·분류 → 보고서 초안까지 완성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9562795" y="3295498"/>
            <a:ext cx="35250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95" dirty="0">
                <a:solidFill>
                  <a:srgbClr val="1B1B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975" dirty="0"/>
          </a:p>
        </p:txBody>
      </p:sp>
      <p:sp>
        <p:nvSpPr>
          <p:cNvPr id="30" name="Text 26"/>
          <p:cNvSpPr txBox="1"/>
          <p:nvPr/>
        </p:nvSpPr>
        <p:spPr>
          <a:xfrm>
            <a:off x="9562795" y="3581705"/>
            <a:ext cx="3525012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교육 예약</a:t>
            </a:r>
            <a:endParaRPr lang="en-US" sz="28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시스템</a:t>
            </a:r>
            <a:endParaRPr lang="en-US" sz="2850" dirty="0"/>
          </a:p>
        </p:txBody>
      </p:sp>
      <p:sp>
        <p:nvSpPr>
          <p:cNvPr id="31" name="Text 27"/>
          <p:cNvSpPr txBox="1"/>
          <p:nvPr/>
        </p:nvSpPr>
        <p:spPr>
          <a:xfrm>
            <a:off x="9562795" y="4629607"/>
            <a:ext cx="352501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23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장애인·어린이집 대상 프로그램 예약 접수를 온라인으로 받습니다.</a:t>
            </a:r>
            <a:endParaRPr lang="en-US" sz="1650" dirty="0"/>
          </a:p>
        </p:txBody>
      </p:sp>
      <p:sp>
        <p:nvSpPr>
          <p:cNvPr id="32" name="Text 28"/>
          <p:cNvSpPr txBox="1"/>
          <p:nvPr/>
        </p:nvSpPr>
        <p:spPr>
          <a:xfrm>
            <a:off x="9562795" y="6324905"/>
            <a:ext cx="35250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84" dirty="0">
                <a:solidFill>
                  <a:srgbClr val="1B1B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전화·공문 접수 → 링크 하나로 접수</a:t>
            </a:r>
            <a:endParaRPr lang="en-US" sz="1050" dirty="0"/>
          </a:p>
        </p:txBody>
      </p:sp>
      <p:sp>
        <p:nvSpPr>
          <p:cNvPr id="33" name="Text 29"/>
          <p:cNvSpPr txBox="1"/>
          <p:nvPr/>
        </p:nvSpPr>
        <p:spPr>
          <a:xfrm>
            <a:off x="13811098" y="3295498"/>
            <a:ext cx="3429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95" dirty="0">
                <a:solidFill>
                  <a:srgbClr val="1B1B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975" dirty="0"/>
          </a:p>
        </p:txBody>
      </p:sp>
      <p:sp>
        <p:nvSpPr>
          <p:cNvPr id="34" name="Text 30"/>
          <p:cNvSpPr txBox="1"/>
          <p:nvPr/>
        </p:nvSpPr>
        <p:spPr>
          <a:xfrm>
            <a:off x="13811098" y="3581705"/>
            <a:ext cx="342900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협력식당</a:t>
            </a:r>
            <a:endParaRPr lang="en-US" sz="28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의견조사</a:t>
            </a:r>
            <a:endParaRPr lang="en-US" sz="2850" dirty="0"/>
          </a:p>
        </p:txBody>
      </p:sp>
      <p:sp>
        <p:nvSpPr>
          <p:cNvPr id="35" name="Text 31"/>
          <p:cNvSpPr txBox="1"/>
          <p:nvPr/>
        </p:nvSpPr>
        <p:spPr>
          <a:xfrm>
            <a:off x="13811098" y="4629607"/>
            <a:ext cx="3429000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23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월별·연도별 실적을 자동 통계화하고 PDF 보고서까지 생성합니다.</a:t>
            </a:r>
            <a:endParaRPr lang="en-US" sz="1650" dirty="0"/>
          </a:p>
        </p:txBody>
      </p:sp>
      <p:sp>
        <p:nvSpPr>
          <p:cNvPr id="36" name="Text 32"/>
          <p:cNvSpPr txBox="1"/>
          <p:nvPr/>
        </p:nvSpPr>
        <p:spPr>
          <a:xfrm>
            <a:off x="13811098" y="6324905"/>
            <a:ext cx="3429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84" dirty="0">
                <a:solidFill>
                  <a:srgbClr val="1B1B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분기마다 재집계 → 버튼 한 번</a:t>
            </a:r>
            <a:endParaRPr lang="en-US" sz="1050" dirty="0"/>
          </a:p>
        </p:txBody>
      </p:sp>
      <p:sp>
        <p:nvSpPr>
          <p:cNvPr id="37" name="Text 33"/>
          <p:cNvSpPr txBox="1"/>
          <p:nvPr/>
        </p:nvSpPr>
        <p:spPr>
          <a:xfrm>
            <a:off x="1067105" y="7334402"/>
            <a:ext cx="11430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웹시스템 외에 문서·이미지·영상까지</a:t>
            </a:r>
            <a:endParaRPr lang="en-US" sz="1050" dirty="0"/>
          </a:p>
        </p:txBody>
      </p:sp>
      <p:sp>
        <p:nvSpPr>
          <p:cNvPr id="38" name="Text 34"/>
          <p:cNvSpPr txBox="1"/>
          <p:nvPr/>
        </p:nvSpPr>
        <p:spPr>
          <a:xfrm>
            <a:off x="1067105" y="7603236"/>
            <a:ext cx="16383305" cy="1084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53"/>
              </a:lnSpc>
              <a:buNone/>
            </a:pPr>
            <a:r>
              <a:rPr lang="en-US" sz="2325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사업계획서 초안 · 국민제안 회신 공문 · 청구내역 OCR 판독 · 연령별 인구통계 정리</a:t>
            </a:r>
            <a:endParaRPr lang="en-US" sz="2325" dirty="0"/>
          </a:p>
          <a:p>
            <a:pPr marL="0" indent="0" algn="l">
              <a:lnSpc>
                <a:spcPts val="3953"/>
              </a:lnSpc>
              <a:buNone/>
            </a:pPr>
            <a:r>
              <a:rPr lang="en-US" sz="2325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구강보건의 날 현수막 · 교육용 일러스트 · 치과의사 포토존 · </a:t>
            </a:r>
            <a:r>
              <a:rPr lang="en-US" sz="2325" b="1" dirty="0">
                <a:solidFill>
                  <a:srgbClr val="A41E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2분 강의 오프닝 영상</a:t>
            </a:r>
            <a:endParaRPr lang="en-US" sz="2325" dirty="0"/>
          </a:p>
        </p:txBody>
      </p:sp>
      <p:sp>
        <p:nvSpPr>
          <p:cNvPr id="39" name="Text 35"/>
          <p:cNvSpPr txBox="1"/>
          <p:nvPr/>
        </p:nvSpPr>
        <p:spPr>
          <a:xfrm>
            <a:off x="761695" y="9163202"/>
            <a:ext cx="16764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공통점 하나 — </a:t>
            </a:r>
            <a:r>
              <a:rPr lang="en-US" sz="2250" b="1" dirty="0">
                <a:solidFill>
                  <a:srgbClr val="A41E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전부 제가 이미 하고 있던 일</a:t>
            </a:r>
            <a:r>
              <a:rPr lang="en-US" sz="2250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이었습니다. 새로 배운 일이 아닙니다.</a:t>
            </a:r>
            <a:endParaRPr lang="en-US" sz="2250" dirty="0"/>
          </a:p>
        </p:txBody>
      </p:sp>
      <p:sp>
        <p:nvSpPr>
          <p:cNvPr id="40" name="Text 36"/>
          <p:cNvSpPr txBox="1"/>
          <p:nvPr/>
        </p:nvSpPr>
        <p:spPr>
          <a:xfrm>
            <a:off x="761695" y="10067544"/>
            <a:ext cx="1333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F4F4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근거: 원본 특강자료 p.13 웹시스템 · p.16 문서 업무 · p.20 홍보물 · 웹시스템 수량 14개(강사 확인)</a:t>
            </a:r>
            <a:endParaRPr lang="en-US" sz="900" dirty="0"/>
          </a:p>
        </p:txBody>
      </p:sp>
      <p:sp>
        <p:nvSpPr>
          <p:cNvPr id="41" name="Text 37"/>
          <p:cNvSpPr txBox="1"/>
          <p:nvPr/>
        </p:nvSpPr>
        <p:spPr>
          <a:xfrm>
            <a:off x="15620695" y="10067544"/>
            <a:ext cx="190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kern="0" spc="180" dirty="0">
                <a:solidFill>
                  <a:srgbClr val="F4F4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08783e6387252b8d8bc4de14f11b11b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1695" y="2743200"/>
            <a:ext cx="5391302" cy="3238805"/>
          </a:xfrm>
          <a:prstGeom prst="rect">
            <a:avLst/>
          </a:prstGeom>
          <a:solidFill>
            <a:srgbClr val="1B1B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439205" y="2743200"/>
            <a:ext cx="5391302" cy="3314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6439205" y="2743200"/>
            <a:ext cx="5391302" cy="75895"/>
          </a:xfrm>
          <a:prstGeom prst="rect">
            <a:avLst/>
          </a:prstGeom>
          <a:solidFill>
            <a:srgbClr val="A41E22"/>
          </a:solidFill>
          <a:ln w="12700">
            <a:solidFill>
              <a:srgbClr val="A41E22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115800" y="2743200"/>
            <a:ext cx="5410505" cy="3314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12115800" y="2743200"/>
            <a:ext cx="5410505" cy="75895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1695" y="6286500"/>
            <a:ext cx="16840505" cy="11237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761695" y="6286500"/>
            <a:ext cx="75895" cy="1123798"/>
          </a:xfrm>
          <a:prstGeom prst="rect">
            <a:avLst/>
          </a:prstGeom>
          <a:solidFill>
            <a:srgbClr val="A41E22"/>
          </a:solidFill>
          <a:ln w="12700">
            <a:solidFill>
              <a:srgbClr val="A41E22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1695" y="7619695"/>
            <a:ext cx="16763695" cy="1619402"/>
          </a:xfrm>
          <a:prstGeom prst="rect">
            <a:avLst/>
          </a:prstGeom>
          <a:solidFill>
            <a:srgbClr val="1B1B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0" y="10001707"/>
            <a:ext cx="18288000" cy="286207"/>
          </a:xfrm>
          <a:prstGeom prst="rect">
            <a:avLst/>
          </a:prstGeom>
          <a:solidFill>
            <a:srgbClr val="1B1B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gen-dedup-8fcbcbaae710f5b04a89af74a055627b.png"/>
          <p:cNvPicPr>
            <a:picLocks noChangeAspect="1"/>
          </p:cNvPicPr>
          <p:nvPr/>
        </p:nvPicPr>
        <p:blipFill>
          <a:blip r:embed="rId4"/>
          <a:srcRect l="-202" r="-202"/>
          <a:stretch/>
        </p:blipFill>
        <p:spPr>
          <a:xfrm>
            <a:off x="761695" y="2743200"/>
            <a:ext cx="5391302" cy="758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61695" y="400507"/>
            <a:ext cx="12382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52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SLIDE 07 · 분석의 힘 2 / 3 — 숫자로 증명되는가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761695" y="990295"/>
            <a:ext cx="142875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80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웹시스템 하나가 언론보도까지.</a:t>
            </a:r>
            <a:endParaRPr lang="en-US" sz="6000" dirty="0"/>
          </a:p>
        </p:txBody>
      </p:sp>
      <p:sp>
        <p:nvSpPr>
          <p:cNvPr id="15" name="Text 11"/>
          <p:cNvSpPr txBox="1"/>
          <p:nvPr/>
        </p:nvSpPr>
        <p:spPr>
          <a:xfrm>
            <a:off x="761695" y="1943100"/>
            <a:ext cx="16573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75" dirty="0">
                <a:solidFill>
                  <a:srgbClr val="A41E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절주하이소 실시간 집계 결과 (2026년 3월 ~ 7월)</a:t>
            </a:r>
            <a:endParaRPr lang="en-US" sz="2175" dirty="0"/>
          </a:p>
        </p:txBody>
      </p:sp>
      <p:sp>
        <p:nvSpPr>
          <p:cNvPr id="16" name="Text 12"/>
          <p:cNvSpPr txBox="1"/>
          <p:nvPr/>
        </p:nvSpPr>
        <p:spPr>
          <a:xfrm>
            <a:off x="1104595" y="3066898"/>
            <a:ext cx="4763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설문 응답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104595" y="3448202"/>
            <a:ext cx="476311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3,824건</a:t>
            </a:r>
            <a:endParaRPr lang="en-US" sz="7200" dirty="0"/>
          </a:p>
        </p:txBody>
      </p:sp>
      <p:sp>
        <p:nvSpPr>
          <p:cNvPr id="18" name="Text 14"/>
          <p:cNvSpPr txBox="1"/>
          <p:nvPr/>
        </p:nvSpPr>
        <p:spPr>
          <a:xfrm>
            <a:off x="1104595" y="4496105"/>
            <a:ext cx="47631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dirty="0">
                <a:solidFill>
                  <a:srgbClr val="F4F4F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참여 14,803명</a:t>
            </a:r>
            <a:endParaRPr lang="en-US" sz="3300" dirty="0"/>
          </a:p>
        </p:txBody>
      </p:sp>
      <p:sp>
        <p:nvSpPr>
          <p:cNvPr id="19" name="Text 15"/>
          <p:cNvSpPr txBox="1"/>
          <p:nvPr/>
        </p:nvSpPr>
        <p:spPr>
          <a:xfrm>
            <a:off x="1104595" y="5151730"/>
            <a:ext cx="476311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1575" dirty="0">
                <a:solidFill>
                  <a:srgbClr val="F4F4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5개월간 손 대지 않고 자동 집계.</a:t>
            </a:r>
            <a:endParaRPr lang="en-US" sz="1575" dirty="0"/>
          </a:p>
          <a:p>
            <a:pPr marL="0" indent="0" algn="l">
              <a:lnSpc>
                <a:spcPts val="2363"/>
              </a:lnSpc>
              <a:buNone/>
            </a:pPr>
            <a:r>
              <a:rPr lang="en-US" sz="1575" dirty="0">
                <a:solidFill>
                  <a:srgbClr val="F4F4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담당자가 한 건도 옮겨 적지 않았습니다.</a:t>
            </a:r>
            <a:endParaRPr lang="en-US" sz="1575" dirty="0"/>
          </a:p>
        </p:txBody>
      </p:sp>
      <p:sp>
        <p:nvSpPr>
          <p:cNvPr id="20" name="Text 16"/>
          <p:cNvSpPr txBox="1"/>
          <p:nvPr/>
        </p:nvSpPr>
        <p:spPr>
          <a:xfrm>
            <a:off x="6782105" y="3066898"/>
            <a:ext cx="4763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언론매체 보도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6782105" y="3448202"/>
            <a:ext cx="476311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10곳</a:t>
            </a:r>
            <a:endParaRPr lang="en-US" sz="7200" dirty="0"/>
          </a:p>
        </p:txBody>
      </p:sp>
      <p:sp>
        <p:nvSpPr>
          <p:cNvPr id="22" name="Text 18"/>
          <p:cNvSpPr txBox="1"/>
          <p:nvPr/>
        </p:nvSpPr>
        <p:spPr>
          <a:xfrm>
            <a:off x="6782105" y="4496105"/>
            <a:ext cx="4763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A41E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KBS 울산 취재</a:t>
            </a:r>
            <a:endParaRPr lang="en-US" sz="2700" dirty="0"/>
          </a:p>
        </p:txBody>
      </p:sp>
      <p:sp>
        <p:nvSpPr>
          <p:cNvPr id="23" name="Text 19"/>
          <p:cNvSpPr txBox="1"/>
          <p:nvPr/>
        </p:nvSpPr>
        <p:spPr>
          <a:xfrm>
            <a:off x="6782105" y="5056632"/>
            <a:ext cx="476311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1575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고씨네 생고기 사례가 방송으로.</a:t>
            </a:r>
            <a:endParaRPr lang="en-US" sz="1575" dirty="0"/>
          </a:p>
          <a:p>
            <a:pPr marL="0" indent="0" algn="l">
              <a:lnSpc>
                <a:spcPts val="2363"/>
              </a:lnSpc>
              <a:buNone/>
            </a:pPr>
            <a:r>
              <a:rPr lang="en-US" sz="1575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홍보 예산은 한 푼도 쓰지 않았습니다.</a:t>
            </a:r>
            <a:endParaRPr lang="en-US" sz="1575" dirty="0"/>
          </a:p>
        </p:txBody>
      </p:sp>
      <p:sp>
        <p:nvSpPr>
          <p:cNvPr id="24" name="Text 20"/>
          <p:cNvSpPr txBox="1"/>
          <p:nvPr/>
        </p:nvSpPr>
        <p:spPr>
          <a:xfrm>
            <a:off x="12458700" y="3066898"/>
            <a:ext cx="4763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1B1B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평균 절주목표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12458700" y="3448202"/>
            <a:ext cx="476311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2.5병</a:t>
            </a:r>
            <a:endParaRPr lang="en-US" sz="7200" dirty="0"/>
          </a:p>
        </p:txBody>
      </p:sp>
      <p:sp>
        <p:nvSpPr>
          <p:cNvPr id="26" name="Text 22"/>
          <p:cNvSpPr txBox="1"/>
          <p:nvPr/>
        </p:nvSpPr>
        <p:spPr>
          <a:xfrm>
            <a:off x="12458700" y="4496105"/>
            <a:ext cx="4763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응답자가 직접 설정</a:t>
            </a:r>
            <a:endParaRPr lang="en-US" sz="2700" dirty="0"/>
          </a:p>
        </p:txBody>
      </p:sp>
      <p:sp>
        <p:nvSpPr>
          <p:cNvPr id="27" name="Text 23"/>
          <p:cNvSpPr txBox="1"/>
          <p:nvPr/>
        </p:nvSpPr>
        <p:spPr>
          <a:xfrm>
            <a:off x="12458700" y="5056632"/>
            <a:ext cx="476311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1575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 대상자의 실제 목표치를</a:t>
            </a:r>
            <a:endParaRPr lang="en-US" sz="1575" dirty="0"/>
          </a:p>
          <a:p>
            <a:pPr marL="0" indent="0" algn="l">
              <a:lnSpc>
                <a:spcPts val="2363"/>
              </a:lnSpc>
              <a:buNone/>
            </a:pPr>
            <a:r>
              <a:rPr lang="en-US" sz="1575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처음으로 데이터로 확보했습니다.</a:t>
            </a:r>
            <a:endParaRPr lang="en-US" sz="1575" dirty="0"/>
          </a:p>
        </p:txBody>
      </p:sp>
      <p:sp>
        <p:nvSpPr>
          <p:cNvPr id="28" name="Text 24"/>
          <p:cNvSpPr txBox="1"/>
          <p:nvPr/>
        </p:nvSpPr>
        <p:spPr>
          <a:xfrm>
            <a:off x="1123798" y="6495898"/>
            <a:ext cx="3810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1B1B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투입 자원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1123798" y="6762902"/>
            <a:ext cx="57150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개발예산 0원 · 외주 0건</a:t>
            </a:r>
            <a:endParaRPr lang="en-US" sz="2550" dirty="0"/>
          </a:p>
        </p:txBody>
      </p:sp>
      <p:sp>
        <p:nvSpPr>
          <p:cNvPr id="30" name="Text 26"/>
          <p:cNvSpPr txBox="1"/>
          <p:nvPr/>
        </p:nvSpPr>
        <p:spPr>
          <a:xfrm>
            <a:off x="7239305" y="6689750"/>
            <a:ext cx="10096805" cy="720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코딩 교육 이수 0시간. 담당자 한 명이 업무시간 안에서 만들었고,</a:t>
            </a:r>
            <a:endParaRPr lang="en-US" sz="18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6개월 차인 지금도 유지비가 들지 않습니다.</a:t>
            </a:r>
            <a:endParaRPr lang="en-US" sz="1800" dirty="0"/>
          </a:p>
        </p:txBody>
      </p:sp>
      <p:sp>
        <p:nvSpPr>
          <p:cNvPr id="31" name="Text 27"/>
          <p:cNvSpPr txBox="1"/>
          <p:nvPr/>
        </p:nvSpPr>
        <p:spPr>
          <a:xfrm>
            <a:off x="1104595" y="7830007"/>
            <a:ext cx="7620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같은 업무, 전과 후</a:t>
            </a:r>
            <a:endParaRPr lang="en-US" sz="1050" dirty="0"/>
          </a:p>
        </p:txBody>
      </p:sp>
      <p:sp>
        <p:nvSpPr>
          <p:cNvPr id="32" name="Text 28"/>
          <p:cNvSpPr txBox="1"/>
          <p:nvPr/>
        </p:nvSpPr>
        <p:spPr>
          <a:xfrm>
            <a:off x="1104595" y="8172907"/>
            <a:ext cx="800100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4F4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✗</a:t>
            </a:r>
            <a:r>
              <a:rPr lang="en-US" sz="2025" dirty="0">
                <a:solidFill>
                  <a:srgbClr val="F4F4F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손으로 계산 → 신청서 작성 → 담당자 검토 → 통화 확인</a:t>
            </a:r>
            <a:endParaRPr lang="en-US" sz="2025" dirty="0"/>
          </a:p>
        </p:txBody>
      </p:sp>
      <p:sp>
        <p:nvSpPr>
          <p:cNvPr id="33" name="Text 29"/>
          <p:cNvSpPr txBox="1"/>
          <p:nvPr/>
        </p:nvSpPr>
        <p:spPr>
          <a:xfrm>
            <a:off x="9391802" y="8172907"/>
            <a:ext cx="8097012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</a:t>
            </a:r>
            <a:r>
              <a:rPr lang="en-US" sz="2025" b="1" dirty="0">
                <a:solidFill>
                  <a:srgbClr val="A41E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실적 입력 → 자동 계산·초과 차단 → 14개소 실시간</a:t>
            </a:r>
            <a:endParaRPr lang="en-US" sz="2025" dirty="0"/>
          </a:p>
        </p:txBody>
      </p:sp>
      <p:sp>
        <p:nvSpPr>
          <p:cNvPr id="34" name="Text 30"/>
          <p:cNvSpPr txBox="1"/>
          <p:nvPr/>
        </p:nvSpPr>
        <p:spPr>
          <a:xfrm>
            <a:off x="761695" y="9486900"/>
            <a:ext cx="16764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숫자의 결론 — </a:t>
            </a:r>
            <a:r>
              <a:rPr lang="en-US" sz="1950" b="1" dirty="0">
                <a:solidFill>
                  <a:srgbClr val="A41E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예산이 아니라 '첫 업무 하나를 고르는 결정'</a:t>
            </a:r>
            <a:r>
              <a:rPr lang="en-US" sz="1950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성과를 만들었습니다.</a:t>
            </a:r>
            <a:endParaRPr lang="en-US" sz="1950" dirty="0"/>
          </a:p>
        </p:txBody>
      </p:sp>
      <p:sp>
        <p:nvSpPr>
          <p:cNvPr id="35" name="Text 31"/>
          <p:cNvSpPr txBox="1"/>
          <p:nvPr/>
        </p:nvSpPr>
        <p:spPr>
          <a:xfrm>
            <a:off x="761695" y="10067544"/>
            <a:ext cx="1333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F4F4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근거: 원본 특강자료 p.5 절주하이소 집계 · p.14 물품신청 전/후 · 협력식당 14개소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15620695" y="10067544"/>
            <a:ext cx="190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kern="0" spc="180" dirty="0">
                <a:solidFill>
                  <a:srgbClr val="F4F4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08783e6387252b8d8bc4de14f11b11b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1695" y="2704795"/>
            <a:ext cx="8220456" cy="31437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761695" y="2704795"/>
            <a:ext cx="75895" cy="3143707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381744" y="2704795"/>
            <a:ext cx="8220456" cy="3143707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6" name="Shape 3"/>
          <p:cNvSpPr/>
          <p:nvPr/>
        </p:nvSpPr>
        <p:spPr>
          <a:xfrm>
            <a:off x="9381744" y="2704795"/>
            <a:ext cx="75895" cy="3143707"/>
          </a:xfrm>
          <a:prstGeom prst="rect">
            <a:avLst/>
          </a:prstGeom>
          <a:solidFill>
            <a:srgbClr val="A41E22"/>
          </a:solidFill>
          <a:ln w="12700">
            <a:solidFill>
              <a:srgbClr val="A41E22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1695" y="6515100"/>
            <a:ext cx="5391302" cy="24579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761695" y="6515100"/>
            <a:ext cx="5391302" cy="75895"/>
          </a:xfrm>
          <a:prstGeom prst="rect">
            <a:avLst/>
          </a:prstGeom>
          <a:solidFill>
            <a:srgbClr val="A41E22"/>
          </a:solidFill>
          <a:ln w="12700">
            <a:solidFill>
              <a:srgbClr val="A41E22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39205" y="6515100"/>
            <a:ext cx="5391302" cy="24579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6439205" y="6515100"/>
            <a:ext cx="5391302" cy="75895"/>
          </a:xfrm>
          <a:prstGeom prst="rect">
            <a:avLst/>
          </a:prstGeom>
          <a:solidFill>
            <a:srgbClr val="A41E22"/>
          </a:solidFill>
          <a:ln w="12700">
            <a:solidFill>
              <a:srgbClr val="A41E22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115800" y="6515100"/>
            <a:ext cx="5410505" cy="24579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12115800" y="6515100"/>
            <a:ext cx="5410505" cy="75895"/>
          </a:xfrm>
          <a:prstGeom prst="rect">
            <a:avLst/>
          </a:prstGeom>
          <a:solidFill>
            <a:srgbClr val="A41E22"/>
          </a:solidFill>
          <a:ln w="12700">
            <a:solidFill>
              <a:srgbClr val="A41E22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10001707"/>
            <a:ext cx="18288000" cy="286207"/>
          </a:xfrm>
          <a:prstGeom prst="rect">
            <a:avLst/>
          </a:prstGeom>
          <a:solidFill>
            <a:srgbClr val="1B1B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1" descr="gen-dedup-d4e9b8c15f426d3bf355c53cab895bd4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23798" y="4229100"/>
            <a:ext cx="7429500" cy="9144"/>
          </a:xfrm>
          <a:prstGeom prst="rect">
            <a:avLst/>
          </a:prstGeom>
        </p:spPr>
      </p:pic>
      <p:pic>
        <p:nvPicPr>
          <p:cNvPr id="15" name="Image 2" descr="gen-dedup-837a51e6d9cdd08933597e2e2ac78f43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9743846" y="4343400"/>
            <a:ext cx="7429500" cy="91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61695" y="400507"/>
            <a:ext cx="1333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52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SLIDE 08 · 분석의 힘 3 / 3 — 여러분도 재현할 수 있는가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761695" y="990295"/>
            <a:ext cx="15240305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80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비결은 '말하는 방식' 하나였습니다.</a:t>
            </a:r>
            <a:endParaRPr lang="en-US" sz="6000" dirty="0"/>
          </a:p>
        </p:txBody>
      </p:sp>
      <p:sp>
        <p:nvSpPr>
          <p:cNvPr id="18" name="Text 13"/>
          <p:cNvSpPr txBox="1"/>
          <p:nvPr/>
        </p:nvSpPr>
        <p:spPr>
          <a:xfrm>
            <a:off x="761695" y="1943100"/>
            <a:ext cx="16573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75" dirty="0">
                <a:solidFill>
                  <a:srgbClr val="A41E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같은 AI, 같은 업무. 결과를 가른 건 요청 문장 한 줄이었습니다.</a:t>
            </a:r>
            <a:endParaRPr lang="en-US" sz="2175" dirty="0"/>
          </a:p>
        </p:txBody>
      </p:sp>
      <p:sp>
        <p:nvSpPr>
          <p:cNvPr id="19" name="Text 14"/>
          <p:cNvSpPr txBox="1"/>
          <p:nvPr/>
        </p:nvSpPr>
        <p:spPr>
          <a:xfrm>
            <a:off x="1123798" y="2933395"/>
            <a:ext cx="6667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1B1B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✗ 이렇게 말고</a:t>
            </a:r>
            <a:endParaRPr lang="en-US" sz="1125" dirty="0"/>
          </a:p>
        </p:txBody>
      </p:sp>
      <p:sp>
        <p:nvSpPr>
          <p:cNvPr id="20" name="Text 15"/>
          <p:cNvSpPr txBox="1"/>
          <p:nvPr/>
        </p:nvSpPr>
        <p:spPr>
          <a:xfrm>
            <a:off x="1123798" y="3295498"/>
            <a:ext cx="7429500" cy="600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“공문 써줘”</a:t>
            </a:r>
            <a:endParaRPr lang="en-US" sz="3900" dirty="0"/>
          </a:p>
        </p:txBody>
      </p:sp>
      <p:sp>
        <p:nvSpPr>
          <p:cNvPr id="21" name="Text 16"/>
          <p:cNvSpPr txBox="1"/>
          <p:nvPr/>
        </p:nvSpPr>
        <p:spPr>
          <a:xfrm>
            <a:off x="1123798" y="4419295"/>
            <a:ext cx="7429500" cy="1229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1800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AI가 무엇을 써야 할지 모릅니다</a:t>
            </a:r>
            <a:endParaRPr lang="en-US" sz="1800" dirty="0"/>
          </a:p>
          <a:p>
            <a:pPr marL="0" indent="0" algn="l">
              <a:lnSpc>
                <a:spcPts val="3060"/>
              </a:lnSpc>
              <a:buNone/>
            </a:pPr>
            <a:r>
              <a:rPr lang="en-US" sz="1800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매번 결과가 달라집니다</a:t>
            </a:r>
            <a:endParaRPr lang="en-US" sz="1800" dirty="0"/>
          </a:p>
          <a:p>
            <a:pPr marL="0" indent="0" algn="l">
              <a:lnSpc>
                <a:spcPts val="3060"/>
              </a:lnSpc>
              <a:buNone/>
            </a:pPr>
            <a:r>
              <a:rPr lang="en-US" sz="1800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결국 처음부터 다시 씁니다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9743846" y="2933395"/>
            <a:ext cx="6667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25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이렇게 말해보세요</a:t>
            </a:r>
            <a:endParaRPr lang="en-US" sz="1125" dirty="0"/>
          </a:p>
        </p:txBody>
      </p:sp>
      <p:sp>
        <p:nvSpPr>
          <p:cNvPr id="23" name="Text 18"/>
          <p:cNvSpPr txBox="1"/>
          <p:nvPr/>
        </p:nvSpPr>
        <p:spPr>
          <a:xfrm>
            <a:off x="9743846" y="3295498"/>
            <a:ext cx="7429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“구강관리 지원 계획서 공문,</a:t>
            </a:r>
            <a:endParaRPr lang="en-US" sz="27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개조식으로 간단히 써주세요”</a:t>
            </a:r>
            <a:endParaRPr lang="en-US" sz="2700" dirty="0"/>
          </a:p>
        </p:txBody>
      </p:sp>
      <p:sp>
        <p:nvSpPr>
          <p:cNvPr id="24" name="Text 19"/>
          <p:cNvSpPr txBox="1"/>
          <p:nvPr/>
        </p:nvSpPr>
        <p:spPr>
          <a:xfrm>
            <a:off x="9743846" y="4533595"/>
            <a:ext cx="7429500" cy="1229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1800" dirty="0">
                <a:solidFill>
                  <a:srgbClr val="F4F4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목적·수신·형식을 대화하듯 설명</a:t>
            </a:r>
            <a:endParaRPr lang="en-US" sz="1800" dirty="0"/>
          </a:p>
          <a:p>
            <a:pPr marL="0" indent="0" algn="l">
              <a:lnSpc>
                <a:spcPts val="3060"/>
              </a:lnSpc>
              <a:buNone/>
            </a:pPr>
            <a:r>
              <a:rPr lang="en-US" sz="1800" dirty="0">
                <a:solidFill>
                  <a:srgbClr val="F4F4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마음에 안 들면 이어서 고쳐달라고 요청</a:t>
            </a:r>
            <a:endParaRPr lang="en-US" sz="1800" dirty="0"/>
          </a:p>
          <a:p>
            <a:pPr marL="0" indent="0" algn="l">
              <a:lnSpc>
                <a:spcPts val="3060"/>
              </a:lnSpc>
              <a:buNone/>
            </a:pPr>
            <a:r>
              <a:rPr lang="en-US" sz="1800" dirty="0">
                <a:solidFill>
                  <a:srgbClr val="F4F4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세 번만 주고받으면 초안이 끝납니다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761695" y="6172200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47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오늘 실습 10분 — 이 세 단계만 하십시오</a:t>
            </a:r>
            <a:endParaRPr lang="en-US" sz="1125" dirty="0"/>
          </a:p>
        </p:txBody>
      </p:sp>
      <p:sp>
        <p:nvSpPr>
          <p:cNvPr id="26" name="Text 21"/>
          <p:cNvSpPr txBox="1"/>
          <p:nvPr/>
        </p:nvSpPr>
        <p:spPr>
          <a:xfrm>
            <a:off x="1104595" y="6724498"/>
            <a:ext cx="190561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A41E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</a:t>
            </a:r>
            <a:endParaRPr lang="en-US" sz="4200" dirty="0"/>
          </a:p>
        </p:txBody>
      </p:sp>
      <p:sp>
        <p:nvSpPr>
          <p:cNvPr id="27" name="Text 22"/>
          <p:cNvSpPr txBox="1"/>
          <p:nvPr/>
        </p:nvSpPr>
        <p:spPr>
          <a:xfrm>
            <a:off x="1104595" y="7487107"/>
            <a:ext cx="4668012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업무 고르기</a:t>
            </a:r>
            <a:endParaRPr lang="en-US" sz="2700" dirty="0"/>
          </a:p>
        </p:txBody>
      </p:sp>
      <p:sp>
        <p:nvSpPr>
          <p:cNvPr id="28" name="Text 23"/>
          <p:cNvSpPr txBox="1"/>
          <p:nvPr/>
        </p:nvSpPr>
        <p:spPr>
          <a:xfrm>
            <a:off x="1104595" y="7939735"/>
            <a:ext cx="4668012" cy="718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매주·매달 반복되는 문서나</a:t>
            </a:r>
            <a:endParaRPr lang="en-US" sz="1650" dirty="0"/>
          </a:p>
          <a:p>
            <a:pPr marL="0" indent="0" algn="l">
              <a:lnSpc>
                <a:spcPts val="2640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하나를 선택합니다</a:t>
            </a:r>
            <a:endParaRPr lang="en-US" sz="1650" dirty="0"/>
          </a:p>
        </p:txBody>
      </p:sp>
      <p:sp>
        <p:nvSpPr>
          <p:cNvPr id="29" name="Text 24"/>
          <p:cNvSpPr txBox="1"/>
          <p:nvPr/>
        </p:nvSpPr>
        <p:spPr>
          <a:xfrm>
            <a:off x="6782105" y="6724498"/>
            <a:ext cx="190561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A41E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</a:t>
            </a:r>
            <a:endParaRPr lang="en-US" sz="4200" dirty="0"/>
          </a:p>
        </p:txBody>
      </p:sp>
      <p:sp>
        <p:nvSpPr>
          <p:cNvPr id="30" name="Text 25"/>
          <p:cNvSpPr txBox="1"/>
          <p:nvPr/>
        </p:nvSpPr>
        <p:spPr>
          <a:xfrm>
            <a:off x="6782105" y="7487107"/>
            <a:ext cx="4668012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편하게 설명하기</a:t>
            </a:r>
            <a:endParaRPr lang="en-US" sz="2700" dirty="0"/>
          </a:p>
        </p:txBody>
      </p:sp>
      <p:sp>
        <p:nvSpPr>
          <p:cNvPr id="31" name="Text 26"/>
          <p:cNvSpPr txBox="1"/>
          <p:nvPr/>
        </p:nvSpPr>
        <p:spPr>
          <a:xfrm>
            <a:off x="6782105" y="7939735"/>
            <a:ext cx="4668012" cy="718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목적과 상황을 옆자리 동료에게</a:t>
            </a:r>
            <a:endParaRPr lang="en-US" sz="1650" dirty="0"/>
          </a:p>
          <a:p>
            <a:pPr marL="0" indent="0" algn="l">
              <a:lnSpc>
                <a:spcPts val="2640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말하듯 이야기합니다</a:t>
            </a:r>
            <a:endParaRPr lang="en-US" sz="1650" dirty="0"/>
          </a:p>
        </p:txBody>
      </p:sp>
      <p:sp>
        <p:nvSpPr>
          <p:cNvPr id="32" name="Text 27"/>
          <p:cNvSpPr txBox="1"/>
          <p:nvPr/>
        </p:nvSpPr>
        <p:spPr>
          <a:xfrm>
            <a:off x="12458700" y="6724498"/>
            <a:ext cx="190561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A41E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</a:t>
            </a:r>
            <a:endParaRPr lang="en-US" sz="4200" dirty="0"/>
          </a:p>
        </p:txBody>
      </p:sp>
      <p:sp>
        <p:nvSpPr>
          <p:cNvPr id="33" name="Text 28"/>
          <p:cNvSpPr txBox="1"/>
          <p:nvPr/>
        </p:nvSpPr>
        <p:spPr>
          <a:xfrm>
            <a:off x="12458700" y="7487107"/>
            <a:ext cx="4668012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대화로 다듬기</a:t>
            </a:r>
            <a:endParaRPr lang="en-US" sz="2700" dirty="0"/>
          </a:p>
        </p:txBody>
      </p:sp>
      <p:sp>
        <p:nvSpPr>
          <p:cNvPr id="34" name="Text 29"/>
          <p:cNvSpPr txBox="1"/>
          <p:nvPr/>
        </p:nvSpPr>
        <p:spPr>
          <a:xfrm>
            <a:off x="12458700" y="7939735"/>
            <a:ext cx="4668012" cy="718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결과가 아쉬우면 이어서</a:t>
            </a:r>
            <a:endParaRPr lang="en-US" sz="1650" dirty="0"/>
          </a:p>
          <a:p>
            <a:pPr marL="0" indent="0" algn="l">
              <a:lnSpc>
                <a:spcPts val="2640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요청하며 고칩니다</a:t>
            </a:r>
            <a:endParaRPr lang="en-US" sz="1650" dirty="0"/>
          </a:p>
        </p:txBody>
      </p:sp>
      <p:sp>
        <p:nvSpPr>
          <p:cNvPr id="35" name="Text 30"/>
          <p:cNvSpPr txBox="1"/>
          <p:nvPr/>
        </p:nvSpPr>
        <p:spPr>
          <a:xfrm>
            <a:off x="761695" y="9163202"/>
            <a:ext cx="16764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성공 기준은 하나입니다 — </a:t>
            </a:r>
            <a:r>
              <a:rPr lang="en-US" sz="2250" b="1" dirty="0">
                <a:solidFill>
                  <a:srgbClr val="A41E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강의가 끝날 때 완성된 초안 결과물 하나.</a:t>
            </a:r>
            <a:endParaRPr lang="en-US" sz="2250" dirty="0"/>
          </a:p>
        </p:txBody>
      </p:sp>
      <p:sp>
        <p:nvSpPr>
          <p:cNvPr id="36" name="Text 31"/>
          <p:cNvSpPr txBox="1"/>
          <p:nvPr/>
        </p:nvSpPr>
        <p:spPr>
          <a:xfrm>
            <a:off x="761695" y="10067544"/>
            <a:ext cx="1333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F4F4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근거: 원본 특강자료 p.24 요청 문장 비교 · p.23 실습 3단계 및 성공 기준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15620695" y="10067544"/>
            <a:ext cx="190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kern="0" spc="180" dirty="0">
                <a:solidFill>
                  <a:srgbClr val="F4F4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08783e6387252b8d8bc4de14f11b11b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1695" y="2628900"/>
            <a:ext cx="16840505" cy="1638605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4" name="Shape 1"/>
          <p:cNvSpPr/>
          <p:nvPr/>
        </p:nvSpPr>
        <p:spPr>
          <a:xfrm>
            <a:off x="761695" y="2628900"/>
            <a:ext cx="75895" cy="1638605"/>
          </a:xfrm>
          <a:prstGeom prst="rect">
            <a:avLst/>
          </a:prstGeom>
          <a:solidFill>
            <a:srgbClr val="A41E22"/>
          </a:solidFill>
          <a:ln w="12700">
            <a:solidFill>
              <a:srgbClr val="A41E22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1695" y="5257800"/>
            <a:ext cx="5391302" cy="38477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5257800"/>
            <a:ext cx="5391302" cy="75895"/>
          </a:xfrm>
          <a:prstGeom prst="rect">
            <a:avLst/>
          </a:prstGeom>
          <a:solidFill>
            <a:srgbClr val="A41E22"/>
          </a:solidFill>
          <a:ln w="12700">
            <a:solidFill>
              <a:srgbClr val="A41E22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39205" y="5257800"/>
            <a:ext cx="5391302" cy="38477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6439205" y="5257800"/>
            <a:ext cx="5391302" cy="75895"/>
          </a:xfrm>
          <a:prstGeom prst="rect">
            <a:avLst/>
          </a:prstGeom>
          <a:solidFill>
            <a:srgbClr val="A41E22"/>
          </a:solidFill>
          <a:ln w="12700">
            <a:solidFill>
              <a:srgbClr val="A41E22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115800" y="5257800"/>
            <a:ext cx="5410505" cy="38477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12115800" y="5257800"/>
            <a:ext cx="5410505" cy="75895"/>
          </a:xfrm>
          <a:prstGeom prst="rect">
            <a:avLst/>
          </a:prstGeom>
          <a:solidFill>
            <a:srgbClr val="A41E22"/>
          </a:solidFill>
          <a:ln w="12700">
            <a:solidFill>
              <a:srgbClr val="A41E22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0" y="10001707"/>
            <a:ext cx="18288000" cy="286207"/>
          </a:xfrm>
          <a:prstGeom prst="rect">
            <a:avLst/>
          </a:prstGeom>
          <a:solidFill>
            <a:srgbClr val="1B1B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gen-dedup-86c393a5330ee3c48c240026079e270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04595" y="7772400"/>
            <a:ext cx="4667098" cy="9144"/>
          </a:xfrm>
          <a:prstGeom prst="rect">
            <a:avLst/>
          </a:prstGeom>
        </p:spPr>
      </p:pic>
      <p:pic>
        <p:nvPicPr>
          <p:cNvPr id="13" name="Image 2" descr="gen-dedup-86c393a5330ee3c48c240026079e270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6782105" y="7772400"/>
            <a:ext cx="4667098" cy="9144"/>
          </a:xfrm>
          <a:prstGeom prst="rect">
            <a:avLst/>
          </a:prstGeom>
        </p:spPr>
      </p:pic>
      <p:pic>
        <p:nvPicPr>
          <p:cNvPr id="14" name="Image 3" descr="gen-dedup-86c393a5330ee3c48c240026079e270f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458700" y="7772400"/>
            <a:ext cx="4667098" cy="91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61695" y="400507"/>
            <a:ext cx="1333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52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SLIDE 09 · 권고 × 반증 — 이럴 땐 하지 마십시오</a:t>
            </a:r>
            <a:endParaRPr lang="en-US" sz="1050" dirty="0"/>
          </a:p>
        </p:txBody>
      </p:sp>
      <p:sp>
        <p:nvSpPr>
          <p:cNvPr id="16" name="Text 10"/>
          <p:cNvSpPr txBox="1"/>
          <p:nvPr/>
        </p:nvSpPr>
        <p:spPr>
          <a:xfrm>
            <a:off x="761695" y="952805"/>
            <a:ext cx="165735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550" b="1" kern="0" spc="-166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권고 — 가장 지겨운 업무 하나를</a:t>
            </a:r>
            <a:endParaRPr lang="en-US" sz="55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5550" b="1" kern="0" spc="-166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이번 주에 넘기십시오.</a:t>
            </a:r>
            <a:endParaRPr lang="en-US" sz="5550" dirty="0"/>
          </a:p>
        </p:txBody>
      </p:sp>
      <p:sp>
        <p:nvSpPr>
          <p:cNvPr id="17" name="Text 11"/>
          <p:cNvSpPr txBox="1"/>
          <p:nvPr/>
        </p:nvSpPr>
        <p:spPr>
          <a:xfrm>
            <a:off x="1123798" y="2838298"/>
            <a:ext cx="8572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구체적으로는 이렇게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1123798" y="3090672"/>
            <a:ext cx="161931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① 매달 반복되는 </a:t>
            </a:r>
            <a:r>
              <a:rPr lang="en-US" sz="2400" b="1" dirty="0">
                <a:solidFill>
                  <a:srgbClr val="A41E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통계·집계 업무 하나</a:t>
            </a:r>
            <a:r>
              <a:rPr lang="en-US" sz="24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를 고르고 ② 목적·수신·형식을 대화하듯 설명해 초안을 받고</a:t>
            </a:r>
            <a:endParaRPr lang="en-US" sz="2400" dirty="0"/>
          </a:p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③ 결과가 쓸 만하면 그 요청을 </a:t>
            </a:r>
            <a:r>
              <a:rPr lang="en-US" sz="2400" b="1" dirty="0">
                <a:solidFill>
                  <a:srgbClr val="A41E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젬스·GPT·스킬에 '틀'로 저장</a:t>
            </a:r>
            <a:r>
              <a:rPr lang="en-US" sz="240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하십시오. 두 번째부터는 시간이 들지 않습니다.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761695" y="4591202"/>
            <a:ext cx="1143000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단, 다음 세 경우엔 권고가 뒤집힙니다.</a:t>
            </a:r>
            <a:endParaRPr lang="en-US" sz="3300" dirty="0"/>
          </a:p>
        </p:txBody>
      </p:sp>
      <p:sp>
        <p:nvSpPr>
          <p:cNvPr id="20" name="Text 14"/>
          <p:cNvSpPr txBox="1"/>
          <p:nvPr/>
        </p:nvSpPr>
        <p:spPr>
          <a:xfrm>
            <a:off x="1104595" y="5486400"/>
            <a:ext cx="46680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95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반증 01</a:t>
            </a:r>
            <a:endParaRPr lang="en-US" sz="975" dirty="0"/>
          </a:p>
        </p:txBody>
      </p:sp>
      <p:sp>
        <p:nvSpPr>
          <p:cNvPr id="21" name="Text 15"/>
          <p:cNvSpPr txBox="1"/>
          <p:nvPr/>
        </p:nvSpPr>
        <p:spPr>
          <a:xfrm>
            <a:off x="1104595" y="5772607"/>
            <a:ext cx="4668012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개인정보가 들어가는 자료</a:t>
            </a:r>
            <a:endParaRPr lang="en-US" sz="2550" dirty="0"/>
          </a:p>
        </p:txBody>
      </p:sp>
      <p:sp>
        <p:nvSpPr>
          <p:cNvPr id="22" name="Text 16"/>
          <p:cNvSpPr txBox="1"/>
          <p:nvPr/>
        </p:nvSpPr>
        <p:spPr>
          <a:xfrm>
            <a:off x="1104595" y="6648602"/>
            <a:ext cx="466801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723"/>
              </a:lnSpc>
              <a:buNone/>
            </a:pPr>
            <a:r>
              <a:rPr lang="en-US" sz="1650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주민번호·연락처·진료기록이 담긴 원본 파일은 올리지 마십시오.</a:t>
            </a:r>
            <a:endParaRPr lang="en-US" sz="1650" dirty="0"/>
          </a:p>
        </p:txBody>
      </p:sp>
      <p:sp>
        <p:nvSpPr>
          <p:cNvPr id="23" name="Text 17"/>
          <p:cNvSpPr txBox="1"/>
          <p:nvPr/>
        </p:nvSpPr>
        <p:spPr>
          <a:xfrm>
            <a:off x="1104595" y="8001000"/>
            <a:ext cx="46680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1650" b="1" dirty="0">
                <a:solidFill>
                  <a:srgbClr val="A41E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식별정보를 지운 양식·집계표만 올리는 방식으로 바꾸십시오.</a:t>
            </a:r>
            <a:endParaRPr lang="en-US" sz="1650" dirty="0"/>
          </a:p>
        </p:txBody>
      </p:sp>
      <p:sp>
        <p:nvSpPr>
          <p:cNvPr id="24" name="Text 18"/>
          <p:cNvSpPr txBox="1"/>
          <p:nvPr/>
        </p:nvSpPr>
        <p:spPr>
          <a:xfrm>
            <a:off x="6782105" y="5486400"/>
            <a:ext cx="46680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95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반증 02</a:t>
            </a:r>
            <a:endParaRPr lang="en-US" sz="975" dirty="0"/>
          </a:p>
        </p:txBody>
      </p:sp>
      <p:sp>
        <p:nvSpPr>
          <p:cNvPr id="25" name="Text 19"/>
          <p:cNvSpPr txBox="1"/>
          <p:nvPr/>
        </p:nvSpPr>
        <p:spPr>
          <a:xfrm>
            <a:off x="6782105" y="5772607"/>
            <a:ext cx="4668012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법령·예산의 최종 판단</a:t>
            </a:r>
            <a:endParaRPr lang="en-US" sz="2550" dirty="0"/>
          </a:p>
        </p:txBody>
      </p:sp>
      <p:sp>
        <p:nvSpPr>
          <p:cNvPr id="26" name="Text 20"/>
          <p:cNvSpPr txBox="1"/>
          <p:nvPr/>
        </p:nvSpPr>
        <p:spPr>
          <a:xfrm>
            <a:off x="6782105" y="6648602"/>
            <a:ext cx="547177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답변은 그럴듯해도 근거 조항이 틀릴 수 있습니다.</a:t>
            </a:r>
            <a:endParaRPr lang="en-US" sz="1650" dirty="0"/>
          </a:p>
        </p:txBody>
      </p:sp>
      <p:sp>
        <p:nvSpPr>
          <p:cNvPr id="27" name="Text 21"/>
          <p:cNvSpPr txBox="1"/>
          <p:nvPr/>
        </p:nvSpPr>
        <p:spPr>
          <a:xfrm>
            <a:off x="6782105" y="8001000"/>
            <a:ext cx="46680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1650" b="1" dirty="0">
                <a:solidFill>
                  <a:srgbClr val="A41E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초안 작성까지만 쓰고, 근거는 반드시 원문에서 직접 확인하십시오.</a:t>
            </a:r>
            <a:endParaRPr lang="en-US" sz="1650" dirty="0"/>
          </a:p>
        </p:txBody>
      </p:sp>
      <p:sp>
        <p:nvSpPr>
          <p:cNvPr id="28" name="Text 22"/>
          <p:cNvSpPr txBox="1"/>
          <p:nvPr/>
        </p:nvSpPr>
        <p:spPr>
          <a:xfrm>
            <a:off x="12458700" y="5486400"/>
            <a:ext cx="46680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95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반증 03</a:t>
            </a:r>
            <a:endParaRPr lang="en-US" sz="975" dirty="0"/>
          </a:p>
        </p:txBody>
      </p:sp>
      <p:sp>
        <p:nvSpPr>
          <p:cNvPr id="29" name="Text 23"/>
          <p:cNvSpPr txBox="1"/>
          <p:nvPr/>
        </p:nvSpPr>
        <p:spPr>
          <a:xfrm>
            <a:off x="12458700" y="5772607"/>
            <a:ext cx="4668012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 번만 하는 업무</a:t>
            </a:r>
            <a:endParaRPr lang="en-US" sz="2550" dirty="0"/>
          </a:p>
        </p:txBody>
      </p:sp>
      <p:sp>
        <p:nvSpPr>
          <p:cNvPr id="30" name="Text 24"/>
          <p:cNvSpPr txBox="1"/>
          <p:nvPr/>
        </p:nvSpPr>
        <p:spPr>
          <a:xfrm>
            <a:off x="12458700" y="6648602"/>
            <a:ext cx="52203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B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반복되지 않는 일은 틀을 만드는 시간이 더 듭니다.</a:t>
            </a:r>
            <a:endParaRPr lang="en-US" sz="1650" dirty="0"/>
          </a:p>
        </p:txBody>
      </p:sp>
      <p:sp>
        <p:nvSpPr>
          <p:cNvPr id="31" name="Text 25"/>
          <p:cNvSpPr txBox="1"/>
          <p:nvPr/>
        </p:nvSpPr>
        <p:spPr>
          <a:xfrm>
            <a:off x="12458700" y="8001000"/>
            <a:ext cx="46680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1650" b="1" dirty="0">
                <a:solidFill>
                  <a:srgbClr val="A41E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그냥 손으로 하십시오. AI는 '반복'에서만 이깁니다.</a:t>
            </a:r>
            <a:endParaRPr lang="en-US" sz="1650" dirty="0"/>
          </a:p>
        </p:txBody>
      </p:sp>
      <p:sp>
        <p:nvSpPr>
          <p:cNvPr id="32" name="Text 26"/>
          <p:cNvSpPr txBox="1"/>
          <p:nvPr/>
        </p:nvSpPr>
        <p:spPr>
          <a:xfrm>
            <a:off x="761695" y="9296705"/>
            <a:ext cx="16764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정리하면 — </a:t>
            </a:r>
            <a:r>
              <a:rPr lang="en-US" sz="2100" b="1" dirty="0">
                <a:solidFill>
                  <a:srgbClr val="A41E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작게 시작하고, 편하게 대화하고, 도구는 상황에 맞게.</a:t>
            </a:r>
            <a:r>
              <a:rPr lang="en-US" sz="2100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딱 세 가지입니다.</a:t>
            </a:r>
            <a:endParaRPr lang="en-US" sz="2100" dirty="0"/>
          </a:p>
        </p:txBody>
      </p:sp>
      <p:sp>
        <p:nvSpPr>
          <p:cNvPr id="33" name="Text 27"/>
          <p:cNvSpPr txBox="1"/>
          <p:nvPr/>
        </p:nvSpPr>
        <p:spPr>
          <a:xfrm>
            <a:off x="761695" y="10067544"/>
            <a:ext cx="1333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F4F4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근거: 원본 특강자료 p.25 정리 3가지 · p.17 QUIZ(넘기면 안 되는 업무) · p.10 틀 저장 기능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15620695" y="10067544"/>
            <a:ext cx="190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kern="0" spc="180" dirty="0">
                <a:solidFill>
                  <a:srgbClr val="F4F4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caba1cdadf90ccad6baa8dedc3dd1cb.png"/>
          <p:cNvPicPr>
            <a:picLocks noChangeAspect="1"/>
          </p:cNvPicPr>
          <p:nvPr/>
        </p:nvPicPr>
        <p:blipFill>
          <a:blip r:embed="rId3"/>
          <a:srcRect t="-57" b="-57"/>
          <a:stretch/>
        </p:blipFill>
        <p:spPr>
          <a:xfrm>
            <a:off x="0" y="0"/>
            <a:ext cx="18288000" cy="133502"/>
          </a:xfrm>
          <a:prstGeom prst="rect">
            <a:avLst/>
          </a:prstGeom>
        </p:spPr>
      </p:pic>
      <p:pic>
        <p:nvPicPr>
          <p:cNvPr id="3" name="Image 1" descr="gen-dedup-1ecfda80e8e312169f1df99647ba842f.png"/>
          <p:cNvPicPr>
            <a:picLocks noChangeAspect="1"/>
          </p:cNvPicPr>
          <p:nvPr/>
        </p:nvPicPr>
        <p:blipFill>
          <a:blip r:embed="rId4"/>
          <a:srcRect l="-58" r="-58"/>
          <a:stretch/>
        </p:blipFill>
        <p:spPr>
          <a:xfrm>
            <a:off x="0" y="133502"/>
            <a:ext cx="133502" cy="10153498"/>
          </a:xfrm>
          <a:prstGeom prst="rect">
            <a:avLst/>
          </a:prstGeom>
        </p:spPr>
      </p:pic>
      <p:pic>
        <p:nvPicPr>
          <p:cNvPr id="4" name="Image 2" descr="gen-dedup-3f37e1feeb66e02ca7e5d0242f30aa05.png"/>
          <p:cNvPicPr>
            <a:picLocks noChangeAspect="1"/>
          </p:cNvPicPr>
          <p:nvPr/>
        </p:nvPicPr>
        <p:blipFill>
          <a:blip r:embed="rId5"/>
          <a:srcRect t="-397" b="-397"/>
          <a:stretch/>
        </p:blipFill>
        <p:spPr>
          <a:xfrm>
            <a:off x="1143000" y="5391302"/>
            <a:ext cx="6096305" cy="38405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2477902" y="7848295"/>
            <a:ext cx="4667098" cy="1524305"/>
          </a:xfrm>
          <a:prstGeom prst="rect">
            <a:avLst/>
          </a:prstGeom>
          <a:solidFill>
            <a:srgbClr val="F4F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A41E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3" descr="gen-dedup-2f1ec28703c9347ad7c70ed08677f83b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143000" y="7619695"/>
            <a:ext cx="16002000" cy="9144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1143000" y="914400"/>
            <a:ext cx="114300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kern="0" spc="306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SLIDE 10 · 마지막 질문</a:t>
            </a:r>
            <a:endParaRPr lang="en-US" sz="1275" dirty="0"/>
          </a:p>
        </p:txBody>
      </p:sp>
      <p:sp>
        <p:nvSpPr>
          <p:cNvPr id="9" name="Text 3"/>
          <p:cNvSpPr txBox="1"/>
          <p:nvPr/>
        </p:nvSpPr>
        <p:spPr>
          <a:xfrm>
            <a:off x="1143000" y="1714500"/>
            <a:ext cx="1143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A41E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“</a:t>
            </a:r>
            <a:endParaRPr lang="en-US" sz="9000" dirty="0"/>
          </a:p>
        </p:txBody>
      </p:sp>
      <p:sp>
        <p:nvSpPr>
          <p:cNvPr id="10" name="Text 4"/>
          <p:cNvSpPr txBox="1"/>
          <p:nvPr/>
        </p:nvSpPr>
        <p:spPr>
          <a:xfrm>
            <a:off x="1143000" y="2743200"/>
            <a:ext cx="15811805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200" b="1" kern="0" spc="-216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질문 하나가</a:t>
            </a:r>
            <a:endParaRPr lang="en-US" sz="7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7200" b="1" kern="0" spc="-216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38개가 됐습니다.</a:t>
            </a:r>
            <a:endParaRPr lang="en-US" sz="7200" dirty="0"/>
          </a:p>
        </p:txBody>
      </p:sp>
      <p:sp>
        <p:nvSpPr>
          <p:cNvPr id="11" name="Text 5"/>
          <p:cNvSpPr txBox="1"/>
          <p:nvPr/>
        </p:nvSpPr>
        <p:spPr>
          <a:xfrm>
            <a:off x="1143000" y="5810098"/>
            <a:ext cx="15811805" cy="1448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4200" dirty="0">
                <a:solidFill>
                  <a:srgbClr val="F4F4F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시작은 “이걸 꼭 손으로 해야 하나?” 한 줄이었습니다.</a:t>
            </a:r>
            <a:endParaRPr lang="en-US" sz="4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A41E22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여러분의 질문은 무엇인가요?</a:t>
            </a:r>
            <a:endParaRPr lang="en-US" sz="4200" dirty="0"/>
          </a:p>
        </p:txBody>
      </p:sp>
      <p:sp>
        <p:nvSpPr>
          <p:cNvPr id="12" name="Text 6"/>
          <p:cNvSpPr txBox="1"/>
          <p:nvPr/>
        </p:nvSpPr>
        <p:spPr>
          <a:xfrm>
            <a:off x="1143000" y="7962595"/>
            <a:ext cx="7620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47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오늘 가져갈 것 세 가지</a:t>
            </a:r>
            <a:endParaRPr lang="en-US" sz="1125" dirty="0"/>
          </a:p>
        </p:txBody>
      </p:sp>
      <p:sp>
        <p:nvSpPr>
          <p:cNvPr id="13" name="Text 7"/>
          <p:cNvSpPr txBox="1"/>
          <p:nvPr/>
        </p:nvSpPr>
        <p:spPr>
          <a:xfrm>
            <a:off x="1143000" y="8305495"/>
            <a:ext cx="1047811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① 작게 시작하기 · ② 편하게 대화하기 · ③ 나에게 맞는 도구 고르기</a:t>
            </a:r>
            <a:endParaRPr lang="en-US" sz="2550" dirty="0"/>
          </a:p>
        </p:txBody>
      </p:sp>
      <p:sp>
        <p:nvSpPr>
          <p:cNvPr id="14" name="Text 8"/>
          <p:cNvSpPr txBox="1"/>
          <p:nvPr/>
        </p:nvSpPr>
        <p:spPr>
          <a:xfrm>
            <a:off x="12782398" y="8058607"/>
            <a:ext cx="40965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95" dirty="0">
                <a:solidFill>
                  <a:srgbClr val="A41E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자료 전체보기</a:t>
            </a:r>
            <a:endParaRPr lang="en-US" sz="975" dirty="0"/>
          </a:p>
        </p:txBody>
      </p:sp>
      <p:sp>
        <p:nvSpPr>
          <p:cNvPr id="15" name="Text 9"/>
          <p:cNvSpPr txBox="1"/>
          <p:nvPr/>
        </p:nvSpPr>
        <p:spPr>
          <a:xfrm>
            <a:off x="12782398" y="8343900"/>
            <a:ext cx="40965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1B1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www.eduhee.com</a:t>
            </a:r>
            <a:endParaRPr lang="en-US" sz="2400" dirty="0"/>
          </a:p>
        </p:txBody>
      </p:sp>
      <p:sp>
        <p:nvSpPr>
          <p:cNvPr id="16" name="Text 10"/>
          <p:cNvSpPr txBox="1"/>
          <p:nvPr/>
        </p:nvSpPr>
        <p:spPr>
          <a:xfrm>
            <a:off x="12782398" y="8820302"/>
            <a:ext cx="409651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1B1B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비밀번호 eduhee2026</a:t>
            </a:r>
            <a:endParaRPr lang="en-US" sz="1425" dirty="0"/>
          </a:p>
        </p:txBody>
      </p:sp>
      <p:sp>
        <p:nvSpPr>
          <p:cNvPr id="17" name="Text 11"/>
          <p:cNvSpPr txBox="1"/>
          <p:nvPr/>
        </p:nvSpPr>
        <p:spPr>
          <a:xfrm>
            <a:off x="1143000" y="9924898"/>
            <a:ext cx="11430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박경희 · 동구보건소 건강관리과 · 웹시스템 14개 운영 중 · 결과물 38건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14477695" y="9924898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kern="0" spc="189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10 · END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1589</Words>
  <Application>Microsoft Office PowerPoint</Application>
  <PresentationFormat>사용자 지정</PresentationFormat>
  <Paragraphs>260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Noto Sans KR</vt:lpstr>
      <vt:lpstr>Noto Serif KR</vt:lpstr>
      <vt:lpstr>맑은 고딕</vt:lpstr>
      <vt:lpstr>Arial</vt:lpstr>
      <vt:lpstr>Calibri</vt:lpstr>
      <vt:lpstr>IBM Plex Mono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경희 박</cp:lastModifiedBy>
  <cp:revision>2</cp:revision>
  <dcterms:created xsi:type="dcterms:W3CDTF">2026-08-25T13:05:29Z</dcterms:created>
  <dcterms:modified xsi:type="dcterms:W3CDTF">2026-08-25T13:20:11Z</dcterms:modified>
</cp:coreProperties>
</file>